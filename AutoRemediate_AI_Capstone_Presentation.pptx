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Score</c:v>
                </c:pt>
              </c:strCache>
            </c:strRef>
          </c:tx>
          <c:spPr>
            <a:solidFill>
              <a:srgbClr val="0FB5B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Bind Shell 1524</c:v>
                  </c:pt>
                  <c:pt idx="1">
                    <c:v>UnrealIRCd 6667</c:v>
                  </c:pt>
                  <c:pt idx="2">
                    <c:v>VNC 5900</c:v>
                  </c:pt>
                  <c:pt idx="3">
                    <c:v>Ghostcat 8009</c:v>
                  </c:pt>
                  <c:pt idx="4">
                    <c:v>Tomcat 8180</c:v>
                  </c:pt>
                  <c:pt idx="5">
                    <c:v>SSH 22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155</c:v>
                </c:pt>
                <c:pt idx="1">
                  <c:v>155</c:v>
                </c:pt>
                <c:pt idx="2">
                  <c:v>115</c:v>
                </c:pt>
                <c:pt idx="3">
                  <c:v>115</c:v>
                </c:pt>
                <c:pt idx="4">
                  <c:v>115</c:v>
                </c:pt>
                <c:pt idx="5">
                  <c:v>115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BFCBD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80"/>
          <c:min val="0"/>
        </c:scaling>
        <c:delete val="0"/>
        <c:axPos val="b"/>
        <c:majorGridlines>
          <c:spPr>
            <a:ln w="6350" cap="flat">
              <a:solidFill>
                <a:srgbClr val="22304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696B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172033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MTTR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FB5BA"/>
              </a:solidFill>
              <a:effectLst/>
            </c:spPr>
          </c:dPt>
          <c:dPt>
            <c:idx val="1"/>
            <c:bubble3D val="0"/>
            <c:spPr>
              <a:solidFill>
                <a:srgbClr val="1E2A42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Achieved</c:v>
                </c:pt>
                <c:pt idx="1">
                  <c:v>Budget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92</c:v>
                </c:pt>
                <c:pt idx="1">
                  <c:v>8</c:v>
                </c:pt>
              </c:numCache>
            </c:numRef>
          </c:val>
        </c:ser>
        <c:firstSliceAng val="0"/>
        <c:holeSize val="68"/>
      </c:doughnutChart>
      <c:spPr>
        <a:noFill/>
        <a:ln>
          <a:noFill/>
        </a:ln>
        <a:effectLst/>
      </c:spPr>
    </c:plotArea>
    <c:plotVisOnly val="1"/>
    <c:dispBlanksAs val="span"/>
  </c:chart>
  <c:spPr>
    <a:solidFill>
      <a:srgbClr val="172033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Success Rate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0B981"/>
              </a:solidFill>
              <a:effectLst/>
            </c:spPr>
          </c:dPt>
          <c:dPt>
            <c:idx val="1"/>
            <c:bubble3D val="0"/>
            <c:spPr>
              <a:solidFill>
                <a:srgbClr val="1E2A42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Success</c:v>
                </c:pt>
                <c:pt idx="1">
                  <c:v/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100</c:v>
                </c:pt>
                <c:pt idx="1">
                  <c:v>0.001</c:v>
                </c:pt>
              </c:numCache>
            </c:numRef>
          </c:val>
        </c:ser>
        <c:firstSliceAng val="0"/>
        <c:holeSize val="68"/>
      </c:doughnutChart>
      <c:spPr>
        <a:noFill/>
        <a:ln>
          <a:noFill/>
        </a:ln>
        <a:effectLst/>
      </c:spPr>
    </c:plotArea>
    <c:plotVisOnly val="1"/>
    <c:dispBlanksAs val="span"/>
  </c:chart>
  <c:spPr>
    <a:solidFill>
      <a:srgbClr val="172033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Safe Disruption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A78BFA"/>
              </a:solidFill>
              <a:effectLst/>
            </c:spPr>
          </c:dPt>
          <c:dPt>
            <c:idx val="1"/>
            <c:bubble3D val="0"/>
            <c:spPr>
              <a:solidFill>
                <a:srgbClr val="1E2A42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Controlled</c:v>
                </c:pt>
                <c:pt idx="1">
                  <c:v/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100</c:v>
                </c:pt>
                <c:pt idx="1">
                  <c:v>0.001</c:v>
                </c:pt>
              </c:numCache>
            </c:numRef>
          </c:val>
        </c:ser>
        <c:firstSliceAng val="0"/>
        <c:holeSize val="68"/>
      </c:doughnutChart>
      <c:spPr>
        <a:noFill/>
        <a:ln>
          <a:noFill/>
        </a:ln>
        <a:effectLst/>
      </c:spPr>
    </c:plotArea>
    <c:plotVisOnly val="1"/>
    <c:dispBlanksAs val="span"/>
  </c:chart>
  <c:spPr>
    <a:solidFill>
      <a:srgbClr val="172033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1" Type="http://schemas.openxmlformats.org/officeDocument/2006/relationships/image" Target="../media/image-2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image" Target="../media/image-6-10.png"/><Relationship Id="rId11" Type="http://schemas.openxmlformats.org/officeDocument/2006/relationships/image" Target="../media/image-6-11.png"/><Relationship Id="rId12" Type="http://schemas.openxmlformats.org/officeDocument/2006/relationships/image" Target="../media/image-6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image" Target="../media/image-11-8.png"/><Relationship Id="rId9" Type="http://schemas.openxmlformats.org/officeDocument/2006/relationships/image" Target="../media/image-11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chart" Target="/ppt/charts/chart3.xml"/><Relationship Id="rId3" Type="http://schemas.openxmlformats.org/officeDocument/2006/relationships/chart" Target="/ppt/charts/chart4.xm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image" Target="../media/image-16-6.png"/><Relationship Id="rId7" Type="http://schemas.openxmlformats.org/officeDocument/2006/relationships/image" Target="../media/image-16-7.png"/><Relationship Id="rId8" Type="http://schemas.openxmlformats.org/officeDocument/2006/relationships/image" Target="../media/image-16-8.png"/><Relationship Id="rId9" Type="http://schemas.openxmlformats.org/officeDocument/2006/relationships/image" Target="../media/image-16-9.png"/><Relationship Id="rId10" Type="http://schemas.openxmlformats.org/officeDocument/2006/relationships/image" Target="../media/image-16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image" Target="../media/image-1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image" Target="../media/image-18-5.png"/><Relationship Id="rId6" Type="http://schemas.openxmlformats.org/officeDocument/2006/relationships/image" Target="../media/image-1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image" Target="../media/image-19-5.png"/><Relationship Id="rId6" Type="http://schemas.openxmlformats.org/officeDocument/2006/relationships/image" Target="../media/image-1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-2011680"/>
            <a:ext cx="6858000" cy="6858000"/>
          </a:xfrm>
          <a:prstGeom prst="ellipse">
            <a:avLst/>
          </a:prstGeom>
          <a:solidFill>
            <a:srgbClr val="0FB5BA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2194560"/>
            <a:ext cx="5486400" cy="5486400"/>
          </a:xfrm>
          <a:prstGeom prst="ellipse">
            <a:avLst/>
          </a:prstGeom>
          <a:solidFill>
            <a:srgbClr val="A78BFA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9144000" y="2148840"/>
            <a:ext cx="2194560" cy="2194560"/>
          </a:xfrm>
          <a:prstGeom prst="roundRect">
            <a:avLst>
              <a:gd name="adj" fmla="val 8333"/>
            </a:avLst>
          </a:prstGeom>
          <a:solidFill>
            <a:srgbClr val="172033"/>
          </a:solidFill>
          <a:ln w="19050">
            <a:solidFill>
              <a:srgbClr val="0FB5B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46920" y="2651760"/>
            <a:ext cx="1188720" cy="11887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13716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B5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DEPI · CYBER SECURITY INCIDENT RESPONSE ANALYST CAPSTONE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777240" y="178308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AutoRemediate AI</a:t>
            </a:r>
            <a:endParaRPr lang="en-US" sz="6000" dirty="0"/>
          </a:p>
        </p:txBody>
      </p:sp>
      <p:sp>
        <p:nvSpPr>
          <p:cNvPr id="8" name="Text 5"/>
          <p:cNvSpPr/>
          <p:nvPr/>
        </p:nvSpPr>
        <p:spPr>
          <a:xfrm>
            <a:off x="822960" y="278892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BFCB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Vulnerability Remediation Plan &amp; Incident Response Hub</a:t>
            </a:r>
            <a:endParaRPr lang="en-US" sz="1900" dirty="0"/>
          </a:p>
        </p:txBody>
      </p:sp>
      <p:sp>
        <p:nvSpPr>
          <p:cNvPr id="9" name="Shape 6"/>
          <p:cNvSpPr/>
          <p:nvPr/>
        </p:nvSpPr>
        <p:spPr>
          <a:xfrm>
            <a:off x="822960" y="3703320"/>
            <a:ext cx="1636776" cy="402336"/>
          </a:xfrm>
          <a:prstGeom prst="roundRect">
            <a:avLst>
              <a:gd name="adj" fmla="val 50000"/>
            </a:avLst>
          </a:prstGeom>
          <a:solidFill>
            <a:srgbClr val="172033"/>
          </a:solidFill>
          <a:ln w="12700">
            <a:solidFill>
              <a:srgbClr val="0FB5B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22960" y="3703320"/>
            <a:ext cx="16367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B5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Human-Approved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2688336" y="3703320"/>
            <a:ext cx="2692908" cy="402336"/>
          </a:xfrm>
          <a:prstGeom prst="roundRect">
            <a:avLst>
              <a:gd name="adj" fmla="val 50000"/>
            </a:avLst>
          </a:prstGeom>
          <a:solidFill>
            <a:srgbClr val="172033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688336" y="3703320"/>
            <a:ext cx="26929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SSH Remediation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5609844" y="3703320"/>
            <a:ext cx="1156716" cy="402336"/>
          </a:xfrm>
          <a:prstGeom prst="roundRect">
            <a:avLst>
              <a:gd name="adj" fmla="val 50000"/>
            </a:avLst>
          </a:prstGeom>
          <a:solidFill>
            <a:srgbClr val="172033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609844" y="3703320"/>
            <a:ext cx="11567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SOAR-Lite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822960" y="4572000"/>
            <a:ext cx="7132320" cy="0"/>
          </a:xfrm>
          <a:prstGeom prst="line">
            <a:avLst/>
          </a:prstGeom>
          <a:noFill/>
          <a:ln w="12700">
            <a:solidFill>
              <a:srgbClr val="22304D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22960" y="47091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FCB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7  ·  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Evaluator: Eng. Ahmed Attia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822960" y="507492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FCB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3  ·  </a:t>
            </a:r>
            <a:pPr indent="0" marL="0">
              <a:buNone/>
            </a:pPr>
            <a:r>
              <a:rPr lang="en-US" sz="1250" dirty="0">
                <a:solidFill>
                  <a:srgbClr val="BFCB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 Wael (Lead) · Mohey Elden Mostafa · Jerome Arsany · Noureen Elsayed · Hassan Ibrahim · Philopater Helmy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457200" y="647395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69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AutoRemediate AI · DEPI Team 3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20624"/>
            <a:ext cx="146304" cy="146304"/>
          </a:xfrm>
          <a:prstGeom prst="ellipse">
            <a:avLst/>
          </a:prstGeom>
          <a:solidFill>
            <a:srgbClr val="0FB5BA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420624"/>
            <a:ext cx="146304" cy="146304"/>
          </a:xfrm>
          <a:prstGeom prst="ellipse">
            <a:avLst/>
          </a:prstGeom>
          <a:solidFill>
            <a:srgbClr val="0FB5BA">
              <a:alpha val="40000"/>
            </a:srgbClr>
          </a:solidFill>
          <a:ln w="12700">
            <a:solidFill>
              <a:srgbClr val="0FB5B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13232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0FB5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MISSION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13232" y="658368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Paper Reports to Autonomous Defense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713232" y="1691640"/>
            <a:ext cx="5212080" cy="4297680"/>
          </a:xfrm>
          <a:prstGeom prst="roundRect">
            <a:avLst>
              <a:gd name="adj" fmla="val 2128"/>
            </a:avLst>
          </a:prstGeom>
          <a:solidFill>
            <a:srgbClr val="172033"/>
          </a:solidFill>
          <a:ln w="12700">
            <a:solidFill>
              <a:srgbClr val="22304D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60120" y="1965960"/>
            <a:ext cx="566928" cy="566928"/>
          </a:xfrm>
          <a:prstGeom prst="roundRect">
            <a:avLst>
              <a:gd name="adj" fmla="val 14516"/>
            </a:avLst>
          </a:prstGeom>
          <a:solidFill>
            <a:srgbClr val="2A1620"/>
          </a:solidFill>
          <a:ln w="12700">
            <a:solidFill>
              <a:srgbClr val="F43F5E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8992" y="2084832"/>
            <a:ext cx="329184" cy="32918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691640" y="1965960"/>
            <a:ext cx="402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TRADITIONAL PROBLEM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2834640"/>
            <a:ext cx="237744" cy="23774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371600" y="2743200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FCB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Scanners find an open door, then a long paper report is written.</a:t>
            </a:r>
            <a:endParaRPr lang="en-US" sz="135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3593592"/>
            <a:ext cx="237744" cy="23774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371600" y="3502152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FCB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 sit in a queue; a technician patches them days later.</a:t>
            </a:r>
            <a:endParaRPr lang="en-US" sz="135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4352544"/>
            <a:ext cx="237744" cy="237744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371600" y="4261104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FCB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Mean-Time-To-Remediate measured in days — attackers need minutes.</a:t>
            </a:r>
            <a:endParaRPr lang="en-US" sz="135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5840" y="5111496"/>
            <a:ext cx="237744" cy="237744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371600" y="5020056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FCB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Manual, slow, error-prone, and unverified.</a:t>
            </a:r>
            <a:endParaRPr lang="en-US" sz="1350" dirty="0"/>
          </a:p>
        </p:txBody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53328" y="3657600"/>
            <a:ext cx="502920" cy="502920"/>
          </a:xfrm>
          <a:prstGeom prst="rect">
            <a:avLst/>
          </a:prstGeom>
        </p:spPr>
      </p:pic>
      <p:sp>
        <p:nvSpPr>
          <p:cNvPr id="19" name="Shape 11"/>
          <p:cNvSpPr/>
          <p:nvPr/>
        </p:nvSpPr>
        <p:spPr>
          <a:xfrm>
            <a:off x="6675120" y="1691640"/>
            <a:ext cx="4800600" cy="4297680"/>
          </a:xfrm>
          <a:prstGeom prst="roundRect">
            <a:avLst>
              <a:gd name="adj" fmla="val 2128"/>
            </a:avLst>
          </a:prstGeom>
          <a:solidFill>
            <a:srgbClr val="1E2A42"/>
          </a:solidFill>
          <a:ln w="12700">
            <a:solidFill>
              <a:srgbClr val="22304D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20" name="Shape 12"/>
          <p:cNvSpPr/>
          <p:nvPr/>
        </p:nvSpPr>
        <p:spPr>
          <a:xfrm>
            <a:off x="6922008" y="1965960"/>
            <a:ext cx="566928" cy="566928"/>
          </a:xfrm>
          <a:prstGeom prst="roundRect">
            <a:avLst>
              <a:gd name="adj" fmla="val 14516"/>
            </a:avLst>
          </a:prstGeom>
          <a:solidFill>
            <a:srgbClr val="0E2A2C"/>
          </a:solidFill>
          <a:ln w="12700">
            <a:solidFill>
              <a:srgbClr val="0FB5BA"/>
            </a:solidFill>
            <a:prstDash val="solid"/>
          </a:ln>
        </p:spPr>
      </p:sp>
      <p:pic>
        <p:nvPicPr>
          <p:cNvPr id="2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40880" y="2084832"/>
            <a:ext cx="329184" cy="329184"/>
          </a:xfrm>
          <a:prstGeom prst="rect">
            <a:avLst/>
          </a:prstGeom>
        </p:spPr>
      </p:pic>
      <p:sp>
        <p:nvSpPr>
          <p:cNvPr id="22" name="Text 13"/>
          <p:cNvSpPr/>
          <p:nvPr/>
        </p:nvSpPr>
        <p:spPr>
          <a:xfrm>
            <a:off x="7653528" y="1965960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B5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AUTOREMEDIATE AI</a:t>
            </a:r>
            <a:endParaRPr lang="en-US" sz="1300" dirty="0"/>
          </a:p>
        </p:txBody>
      </p:sp>
      <p:pic>
        <p:nvPicPr>
          <p:cNvPr id="2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67728" y="2834640"/>
            <a:ext cx="237744" cy="237744"/>
          </a:xfrm>
          <a:prstGeom prst="rect">
            <a:avLst/>
          </a:prstGeom>
        </p:spPr>
      </p:pic>
      <p:sp>
        <p:nvSpPr>
          <p:cNvPr id="24" name="Text 14"/>
          <p:cNvSpPr/>
          <p:nvPr/>
        </p:nvSpPr>
        <p:spPr>
          <a:xfrm>
            <a:off x="7333488" y="2743200"/>
            <a:ext cx="3977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Scanner detects the flaw and streams it to an AI orchestration engine.</a:t>
            </a:r>
            <a:endParaRPr lang="en-US" sz="1350" dirty="0"/>
          </a:p>
        </p:txBody>
      </p:sp>
      <p:pic>
        <p:nvPicPr>
          <p:cNvPr id="25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967728" y="3593592"/>
            <a:ext cx="237744" cy="237744"/>
          </a:xfrm>
          <a:prstGeom prst="rect">
            <a:avLst/>
          </a:prstGeom>
        </p:spPr>
      </p:pic>
      <p:sp>
        <p:nvSpPr>
          <p:cNvPr id="26" name="Text 15"/>
          <p:cNvSpPr/>
          <p:nvPr/>
        </p:nvSpPr>
        <p:spPr>
          <a:xfrm>
            <a:off x="7333488" y="3502152"/>
            <a:ext cx="3977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engine ranks it, recommends the best fix, and asks a human to approve.</a:t>
            </a:r>
            <a:endParaRPr lang="en-US" sz="1350" dirty="0"/>
          </a:p>
        </p:txBody>
      </p:sp>
      <p:pic>
        <p:nvPicPr>
          <p:cNvPr id="27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967728" y="4352544"/>
            <a:ext cx="237744" cy="237744"/>
          </a:xfrm>
          <a:prstGeom prst="rect">
            <a:avLst/>
          </a:prstGeom>
        </p:spPr>
      </p:pic>
      <p:sp>
        <p:nvSpPr>
          <p:cNvPr id="28" name="Text 16"/>
          <p:cNvSpPr/>
          <p:nvPr/>
        </p:nvSpPr>
        <p:spPr>
          <a:xfrm>
            <a:off x="7333488" y="4261104"/>
            <a:ext cx="3977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approval it logs in over SSH and closes the hole — in real time.</a:t>
            </a:r>
            <a:endParaRPr lang="en-US" sz="1350" dirty="0"/>
          </a:p>
        </p:txBody>
      </p:sp>
      <p:pic>
        <p:nvPicPr>
          <p:cNvPr id="29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967728" y="5111496"/>
            <a:ext cx="237744" cy="237744"/>
          </a:xfrm>
          <a:prstGeom prst="rect">
            <a:avLst/>
          </a:prstGeom>
        </p:spPr>
      </p:pic>
      <p:sp>
        <p:nvSpPr>
          <p:cNvPr id="30" name="Text 17"/>
          <p:cNvSpPr/>
          <p:nvPr/>
        </p:nvSpPr>
        <p:spPr>
          <a:xfrm>
            <a:off x="7333488" y="5020056"/>
            <a:ext cx="3977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action is verified two ways and logged to a live dashboard.</a:t>
            </a:r>
            <a:endParaRPr lang="en-US" sz="1350" dirty="0"/>
          </a:p>
        </p:txBody>
      </p:sp>
      <p:sp>
        <p:nvSpPr>
          <p:cNvPr id="31" name="Text 18"/>
          <p:cNvSpPr/>
          <p:nvPr/>
        </p:nvSpPr>
        <p:spPr>
          <a:xfrm>
            <a:off x="457200" y="647395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69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AutoRemediate AI · DEPI Team 3</a:t>
            </a:r>
            <a:endParaRPr lang="en-US" sz="900" dirty="0"/>
          </a:p>
        </p:txBody>
      </p:sp>
      <p:sp>
        <p:nvSpPr>
          <p:cNvPr id="32" name="Text 19"/>
          <p:cNvSpPr/>
          <p:nvPr/>
        </p:nvSpPr>
        <p:spPr>
          <a:xfrm>
            <a:off x="11183112" y="647395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69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20624"/>
            <a:ext cx="146304" cy="146304"/>
          </a:xfrm>
          <a:prstGeom prst="ellipse">
            <a:avLst/>
          </a:prstGeom>
          <a:solidFill>
            <a:srgbClr val="0FB5BA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420624"/>
            <a:ext cx="146304" cy="146304"/>
          </a:xfrm>
          <a:prstGeom prst="ellipse">
            <a:avLst/>
          </a:prstGeom>
          <a:solidFill>
            <a:srgbClr val="0FB5BA">
              <a:alpha val="40000"/>
            </a:srgbClr>
          </a:solidFill>
          <a:ln w="12700">
            <a:solidFill>
              <a:srgbClr val="0FB5B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13232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0FB5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AT A GLANCE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13232" y="658368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System Actually Did — Live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713232" y="1920240"/>
            <a:ext cx="2606040" cy="2194560"/>
          </a:xfrm>
          <a:prstGeom prst="roundRect">
            <a:avLst>
              <a:gd name="adj" fmla="val 4167"/>
            </a:avLst>
          </a:prstGeom>
          <a:solidFill>
            <a:srgbClr val="172033"/>
          </a:solidFill>
          <a:ln w="12700">
            <a:solidFill>
              <a:srgbClr val="22304D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69264" y="2176272"/>
            <a:ext cx="548640" cy="548640"/>
          </a:xfrm>
          <a:prstGeom prst="roundRect">
            <a:avLst>
              <a:gd name="adj" fmla="val 15000"/>
            </a:avLst>
          </a:prstGeom>
          <a:solidFill>
            <a:srgbClr val="1E2A42"/>
          </a:solidFill>
          <a:ln w="12700">
            <a:solidFill>
              <a:srgbClr val="0FB5BA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8136" y="2295144"/>
            <a:ext cx="310896" cy="31089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58952" y="2697480"/>
            <a:ext cx="2514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0FB5B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43</a:t>
            </a:r>
            <a:endParaRPr lang="en-US" sz="4600" dirty="0"/>
          </a:p>
        </p:txBody>
      </p:sp>
      <p:sp>
        <p:nvSpPr>
          <p:cNvPr id="10" name="Text 7"/>
          <p:cNvSpPr/>
          <p:nvPr/>
        </p:nvSpPr>
        <p:spPr>
          <a:xfrm>
            <a:off x="850392" y="356616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BFCB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findings from a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BFCB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Nessus scan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3621024" y="1920240"/>
            <a:ext cx="2606040" cy="2194560"/>
          </a:xfrm>
          <a:prstGeom prst="roundRect">
            <a:avLst>
              <a:gd name="adj" fmla="val 4167"/>
            </a:avLst>
          </a:prstGeom>
          <a:solidFill>
            <a:srgbClr val="172033"/>
          </a:solidFill>
          <a:ln w="12700">
            <a:solidFill>
              <a:srgbClr val="22304D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877056" y="2176272"/>
            <a:ext cx="548640" cy="548640"/>
          </a:xfrm>
          <a:prstGeom prst="roundRect">
            <a:avLst>
              <a:gd name="adj" fmla="val 15000"/>
            </a:avLst>
          </a:prstGeom>
          <a:solidFill>
            <a:srgbClr val="1E2A42"/>
          </a:solidFill>
          <a:ln w="12700">
            <a:solidFill>
              <a:srgbClr val="F43F5E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5928" y="2295144"/>
            <a:ext cx="310896" cy="31089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666744" y="2697480"/>
            <a:ext cx="2514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43F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</a:t>
            </a:r>
            <a:endParaRPr lang="en-US" sz="4600" dirty="0"/>
          </a:p>
        </p:txBody>
      </p:sp>
      <p:sp>
        <p:nvSpPr>
          <p:cNvPr id="15" name="Text 11"/>
          <p:cNvSpPr/>
          <p:nvPr/>
        </p:nvSpPr>
        <p:spPr>
          <a:xfrm>
            <a:off x="3758184" y="356616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BFCB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+ High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BFCB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prioritized for action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6528816" y="1920240"/>
            <a:ext cx="2606040" cy="2194560"/>
          </a:xfrm>
          <a:prstGeom prst="roundRect">
            <a:avLst>
              <a:gd name="adj" fmla="val 4167"/>
            </a:avLst>
          </a:prstGeom>
          <a:solidFill>
            <a:srgbClr val="172033"/>
          </a:solidFill>
          <a:ln w="12700">
            <a:solidFill>
              <a:srgbClr val="22304D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784848" y="2176272"/>
            <a:ext cx="548640" cy="548640"/>
          </a:xfrm>
          <a:prstGeom prst="roundRect">
            <a:avLst>
              <a:gd name="adj" fmla="val 15000"/>
            </a:avLst>
          </a:prstGeom>
          <a:solidFill>
            <a:srgbClr val="1E2A42"/>
          </a:solidFill>
          <a:ln w="12700">
            <a:solidFill>
              <a:srgbClr val="FBBF24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0" y="2295144"/>
            <a:ext cx="310896" cy="310896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574536" y="2697480"/>
            <a:ext cx="2514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BB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 60s</a:t>
            </a:r>
            <a:endParaRPr lang="en-US" sz="4600" dirty="0"/>
          </a:p>
        </p:txBody>
      </p:sp>
      <p:sp>
        <p:nvSpPr>
          <p:cNvPr id="20" name="Text 15"/>
          <p:cNvSpPr/>
          <p:nvPr/>
        </p:nvSpPr>
        <p:spPr>
          <a:xfrm>
            <a:off x="6665976" y="356616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BFCB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Mean-Time-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BFCB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To-Remediate</a:t>
            </a:r>
            <a:endParaRPr lang="en-US" sz="1250" dirty="0"/>
          </a:p>
        </p:txBody>
      </p:sp>
      <p:sp>
        <p:nvSpPr>
          <p:cNvPr id="21" name="Shape 16"/>
          <p:cNvSpPr/>
          <p:nvPr/>
        </p:nvSpPr>
        <p:spPr>
          <a:xfrm>
            <a:off x="9436608" y="1920240"/>
            <a:ext cx="2606040" cy="2194560"/>
          </a:xfrm>
          <a:prstGeom prst="roundRect">
            <a:avLst>
              <a:gd name="adj" fmla="val 4167"/>
            </a:avLst>
          </a:prstGeom>
          <a:solidFill>
            <a:srgbClr val="172033"/>
          </a:solidFill>
          <a:ln w="12700">
            <a:solidFill>
              <a:srgbClr val="22304D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9692640" y="2176272"/>
            <a:ext cx="548640" cy="548640"/>
          </a:xfrm>
          <a:prstGeom prst="roundRect">
            <a:avLst>
              <a:gd name="adj" fmla="val 15000"/>
            </a:avLst>
          </a:prstGeom>
          <a:solidFill>
            <a:srgbClr val="1E2A42"/>
          </a:solidFill>
          <a:ln w="12700">
            <a:solidFill>
              <a:srgbClr val="A78BFA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11512" y="2295144"/>
            <a:ext cx="310896" cy="310896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9482328" y="2697480"/>
            <a:ext cx="2514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A78B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4600" dirty="0"/>
          </a:p>
        </p:txBody>
      </p:sp>
      <p:sp>
        <p:nvSpPr>
          <p:cNvPr id="25" name="Text 19"/>
          <p:cNvSpPr/>
          <p:nvPr/>
        </p:nvSpPr>
        <p:spPr>
          <a:xfrm>
            <a:off x="9573768" y="356616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BFCB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approval on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BFCB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single action</a:t>
            </a:r>
            <a:endParaRPr lang="en-US" sz="1250" dirty="0"/>
          </a:p>
        </p:txBody>
      </p:sp>
      <p:sp>
        <p:nvSpPr>
          <p:cNvPr id="26" name="Shape 20"/>
          <p:cNvSpPr/>
          <p:nvPr/>
        </p:nvSpPr>
        <p:spPr>
          <a:xfrm>
            <a:off x="713232" y="4434840"/>
            <a:ext cx="10762488" cy="1417320"/>
          </a:xfrm>
          <a:prstGeom prst="roundRect">
            <a:avLst>
              <a:gd name="adj" fmla="val 6452"/>
            </a:avLst>
          </a:prstGeom>
          <a:solidFill>
            <a:srgbClr val="111726"/>
          </a:solidFill>
          <a:ln w="12700">
            <a:solidFill>
              <a:srgbClr val="22304D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27" name="Text 21"/>
          <p:cNvSpPr/>
          <p:nvPr/>
        </p:nvSpPr>
        <p:spPr>
          <a:xfrm>
            <a:off x="960120" y="46177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FB5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 BREAKDOWN — SCAN ID 12 · TARGET 192.168.244.128</a:t>
            </a:r>
            <a:endParaRPr lang="en-US" sz="1100" dirty="0"/>
          </a:p>
        </p:txBody>
      </p:sp>
      <p:sp>
        <p:nvSpPr>
          <p:cNvPr id="28" name="Text 22"/>
          <p:cNvSpPr/>
          <p:nvPr/>
        </p:nvSpPr>
        <p:spPr>
          <a:xfrm>
            <a:off x="960120" y="4937760"/>
            <a:ext cx="822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43F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3600" dirty="0"/>
          </a:p>
        </p:txBody>
      </p:sp>
      <p:sp>
        <p:nvSpPr>
          <p:cNvPr id="29" name="Text 23"/>
          <p:cNvSpPr/>
          <p:nvPr/>
        </p:nvSpPr>
        <p:spPr>
          <a:xfrm>
            <a:off x="1828800" y="493776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FCB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1400" dirty="0"/>
          </a:p>
        </p:txBody>
      </p:sp>
      <p:sp>
        <p:nvSpPr>
          <p:cNvPr id="30" name="Text 24"/>
          <p:cNvSpPr/>
          <p:nvPr/>
        </p:nvSpPr>
        <p:spPr>
          <a:xfrm>
            <a:off x="3429000" y="4937760"/>
            <a:ext cx="822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BB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3600" dirty="0"/>
          </a:p>
        </p:txBody>
      </p:sp>
      <p:sp>
        <p:nvSpPr>
          <p:cNvPr id="31" name="Text 25"/>
          <p:cNvSpPr/>
          <p:nvPr/>
        </p:nvSpPr>
        <p:spPr>
          <a:xfrm>
            <a:off x="4297680" y="493776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FCB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400" dirty="0"/>
          </a:p>
        </p:txBody>
      </p:sp>
      <p:sp>
        <p:nvSpPr>
          <p:cNvPr id="32" name="Text 26"/>
          <p:cNvSpPr/>
          <p:nvPr/>
        </p:nvSpPr>
        <p:spPr>
          <a:xfrm>
            <a:off x="5897880" y="4937760"/>
            <a:ext cx="822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A78B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</a:t>
            </a:r>
            <a:endParaRPr lang="en-US" sz="3600" dirty="0"/>
          </a:p>
        </p:txBody>
      </p:sp>
      <p:sp>
        <p:nvSpPr>
          <p:cNvPr id="33" name="Text 27"/>
          <p:cNvSpPr/>
          <p:nvPr/>
        </p:nvSpPr>
        <p:spPr>
          <a:xfrm>
            <a:off x="6766560" y="493776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FCB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400" dirty="0"/>
          </a:p>
        </p:txBody>
      </p:sp>
      <p:sp>
        <p:nvSpPr>
          <p:cNvPr id="34" name="Text 28"/>
          <p:cNvSpPr/>
          <p:nvPr/>
        </p:nvSpPr>
        <p:spPr>
          <a:xfrm>
            <a:off x="8366760" y="4937760"/>
            <a:ext cx="822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8696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3600" dirty="0"/>
          </a:p>
        </p:txBody>
      </p:sp>
      <p:sp>
        <p:nvSpPr>
          <p:cNvPr id="35" name="Text 29"/>
          <p:cNvSpPr/>
          <p:nvPr/>
        </p:nvSpPr>
        <p:spPr>
          <a:xfrm>
            <a:off x="9235440" y="493776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FCB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400" dirty="0"/>
          </a:p>
        </p:txBody>
      </p:sp>
      <p:sp>
        <p:nvSpPr>
          <p:cNvPr id="36" name="Text 30"/>
          <p:cNvSpPr/>
          <p:nvPr/>
        </p:nvSpPr>
        <p:spPr>
          <a:xfrm>
            <a:off x="457200" y="647395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69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AutoRemediate AI · DEPI Team 3</a:t>
            </a:r>
            <a:endParaRPr lang="en-US" sz="900" dirty="0"/>
          </a:p>
        </p:txBody>
      </p:sp>
      <p:sp>
        <p:nvSpPr>
          <p:cNvPr id="37" name="Text 31"/>
          <p:cNvSpPr/>
          <p:nvPr/>
        </p:nvSpPr>
        <p:spPr>
          <a:xfrm>
            <a:off x="11183112" y="647395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69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20624"/>
            <a:ext cx="146304" cy="146304"/>
          </a:xfrm>
          <a:prstGeom prst="ellipse">
            <a:avLst/>
          </a:prstGeom>
          <a:solidFill>
            <a:srgbClr val="0FB5BA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420624"/>
            <a:ext cx="146304" cy="146304"/>
          </a:xfrm>
          <a:prstGeom prst="ellipse">
            <a:avLst/>
          </a:prstGeom>
          <a:solidFill>
            <a:srgbClr val="0FB5BA">
              <a:alpha val="40000"/>
            </a:srgbClr>
          </a:solidFill>
          <a:ln w="12700">
            <a:solidFill>
              <a:srgbClr val="0FB5B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13232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0FB5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13232" y="658368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Decoupled Layers, One Secure Pipeline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713232" y="1828800"/>
            <a:ext cx="2542032" cy="2834640"/>
          </a:xfrm>
          <a:prstGeom prst="roundRect">
            <a:avLst>
              <a:gd name="adj" fmla="val 3597"/>
            </a:avLst>
          </a:prstGeom>
          <a:solidFill>
            <a:srgbClr val="172033"/>
          </a:solidFill>
          <a:ln w="12700">
            <a:solidFill>
              <a:srgbClr val="22304D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618488" y="2103120"/>
            <a:ext cx="731520" cy="731520"/>
          </a:xfrm>
          <a:prstGeom prst="roundRect">
            <a:avLst>
              <a:gd name="adj" fmla="val 15000"/>
            </a:avLst>
          </a:prstGeom>
          <a:solidFill>
            <a:srgbClr val="1E2A42"/>
          </a:solidFill>
          <a:ln w="12700">
            <a:solidFill>
              <a:srgbClr val="0FB5BA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73936" y="2258568"/>
            <a:ext cx="420624" cy="42062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04672" y="2971800"/>
            <a:ext cx="2359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B5B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DETECTION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914400" y="3383280"/>
            <a:ext cx="213969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FCB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Nessus Essentials scans the target over the host-only lab network.</a:t>
            </a:r>
            <a:endParaRPr lang="en-US" sz="12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3552" y="3017520"/>
            <a:ext cx="274320" cy="27432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3566160" y="1828800"/>
            <a:ext cx="2542032" cy="2834640"/>
          </a:xfrm>
          <a:prstGeom prst="roundRect">
            <a:avLst>
              <a:gd name="adj" fmla="val 3597"/>
            </a:avLst>
          </a:prstGeom>
          <a:solidFill>
            <a:srgbClr val="172033"/>
          </a:solidFill>
          <a:ln w="12700">
            <a:solidFill>
              <a:srgbClr val="22304D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4471416" y="2103120"/>
            <a:ext cx="731520" cy="731520"/>
          </a:xfrm>
          <a:prstGeom prst="roundRect">
            <a:avLst>
              <a:gd name="adj" fmla="val 15000"/>
            </a:avLst>
          </a:prstGeom>
          <a:solidFill>
            <a:srgbClr val="1E2A42"/>
          </a:solidFill>
          <a:ln w="12700">
            <a:solidFill>
              <a:srgbClr val="A78BFA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26864" y="2258568"/>
            <a:ext cx="420624" cy="42062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657600" y="2971800"/>
            <a:ext cx="2359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A78B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ORCHESTRATION</a:t>
            </a:r>
            <a:endParaRPr lang="en-US" sz="1500" dirty="0"/>
          </a:p>
        </p:txBody>
      </p:sp>
      <p:sp>
        <p:nvSpPr>
          <p:cNvPr id="16" name="Text 11"/>
          <p:cNvSpPr/>
          <p:nvPr/>
        </p:nvSpPr>
        <p:spPr>
          <a:xfrm>
            <a:off x="3767328" y="3383280"/>
            <a:ext cx="213969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FCB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engine ingests findings, scores risk, recommends the fix.</a:t>
            </a:r>
            <a:endParaRPr lang="en-US" sz="1200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6480" y="3017520"/>
            <a:ext cx="274320" cy="274320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6419088" y="1828800"/>
            <a:ext cx="2542032" cy="2834640"/>
          </a:xfrm>
          <a:prstGeom prst="roundRect">
            <a:avLst>
              <a:gd name="adj" fmla="val 3597"/>
            </a:avLst>
          </a:prstGeom>
          <a:solidFill>
            <a:srgbClr val="172033"/>
          </a:solidFill>
          <a:ln w="12700">
            <a:solidFill>
              <a:srgbClr val="22304D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7324344" y="2103120"/>
            <a:ext cx="731520" cy="731520"/>
          </a:xfrm>
          <a:prstGeom prst="roundRect">
            <a:avLst>
              <a:gd name="adj" fmla="val 15000"/>
            </a:avLst>
          </a:prstGeom>
          <a:solidFill>
            <a:srgbClr val="1E2A42"/>
          </a:solidFill>
          <a:ln w="12700">
            <a:solidFill>
              <a:srgbClr val="FBBF24"/>
            </a:solidFill>
            <a:prstDash val="solid"/>
          </a:ln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79792" y="2258568"/>
            <a:ext cx="420624" cy="420624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6510528" y="2971800"/>
            <a:ext cx="2359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BB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REMEDIATION</a:t>
            </a:r>
            <a:endParaRPr lang="en-US" sz="1500" dirty="0"/>
          </a:p>
        </p:txBody>
      </p:sp>
      <p:sp>
        <p:nvSpPr>
          <p:cNvPr id="22" name="Text 15"/>
          <p:cNvSpPr/>
          <p:nvPr/>
        </p:nvSpPr>
        <p:spPr>
          <a:xfrm>
            <a:off x="6620256" y="3383280"/>
            <a:ext cx="213969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FCB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Paramiko opens an encrypted SSH channel and runs the approved command.</a:t>
            </a:r>
            <a:endParaRPr lang="en-US" sz="1200" dirty="0"/>
          </a:p>
        </p:txBody>
      </p:sp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79408" y="3017520"/>
            <a:ext cx="274320" cy="274320"/>
          </a:xfrm>
          <a:prstGeom prst="rect">
            <a:avLst/>
          </a:prstGeom>
        </p:spPr>
      </p:pic>
      <p:sp>
        <p:nvSpPr>
          <p:cNvPr id="24" name="Shape 16"/>
          <p:cNvSpPr/>
          <p:nvPr/>
        </p:nvSpPr>
        <p:spPr>
          <a:xfrm>
            <a:off x="9272016" y="1828800"/>
            <a:ext cx="2542032" cy="2834640"/>
          </a:xfrm>
          <a:prstGeom prst="roundRect">
            <a:avLst>
              <a:gd name="adj" fmla="val 3597"/>
            </a:avLst>
          </a:prstGeom>
          <a:solidFill>
            <a:srgbClr val="172033"/>
          </a:solidFill>
          <a:ln w="12700">
            <a:solidFill>
              <a:srgbClr val="22304D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25" name="Shape 17"/>
          <p:cNvSpPr/>
          <p:nvPr/>
        </p:nvSpPr>
        <p:spPr>
          <a:xfrm>
            <a:off x="10177272" y="2103120"/>
            <a:ext cx="731520" cy="731520"/>
          </a:xfrm>
          <a:prstGeom prst="roundRect">
            <a:avLst>
              <a:gd name="adj" fmla="val 15000"/>
            </a:avLst>
          </a:prstGeom>
          <a:solidFill>
            <a:srgbClr val="1E2A42"/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2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32720" y="2258568"/>
            <a:ext cx="420624" cy="420624"/>
          </a:xfrm>
          <a:prstGeom prst="rect">
            <a:avLst/>
          </a:prstGeom>
        </p:spPr>
      </p:pic>
      <p:sp>
        <p:nvSpPr>
          <p:cNvPr id="27" name="Text 18"/>
          <p:cNvSpPr/>
          <p:nvPr/>
        </p:nvSpPr>
        <p:spPr>
          <a:xfrm>
            <a:off x="9363456" y="2971800"/>
            <a:ext cx="2359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B98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 PRESENTATION</a:t>
            </a:r>
            <a:endParaRPr lang="en-US" sz="1500" dirty="0"/>
          </a:p>
        </p:txBody>
      </p:sp>
      <p:sp>
        <p:nvSpPr>
          <p:cNvPr id="28" name="Text 19"/>
          <p:cNvSpPr/>
          <p:nvPr/>
        </p:nvSpPr>
        <p:spPr>
          <a:xfrm>
            <a:off x="9473184" y="3383280"/>
            <a:ext cx="213969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FCB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console + Supabase show live counters, logs, and verification.</a:t>
            </a:r>
            <a:endParaRPr lang="en-US" sz="1200" dirty="0"/>
          </a:p>
        </p:txBody>
      </p:sp>
      <p:sp>
        <p:nvSpPr>
          <p:cNvPr id="29" name="Shape 20"/>
          <p:cNvSpPr/>
          <p:nvPr/>
        </p:nvSpPr>
        <p:spPr>
          <a:xfrm>
            <a:off x="713232" y="4892040"/>
            <a:ext cx="10762488" cy="960120"/>
          </a:xfrm>
          <a:prstGeom prst="roundRect">
            <a:avLst>
              <a:gd name="adj" fmla="val 9524"/>
            </a:avLst>
          </a:prstGeom>
          <a:solidFill>
            <a:srgbClr val="111726"/>
          </a:solidFill>
          <a:ln w="12700">
            <a:solidFill>
              <a:srgbClr val="22304D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30" name="Text 21"/>
          <p:cNvSpPr/>
          <p:nvPr/>
        </p:nvSpPr>
        <p:spPr>
          <a:xfrm>
            <a:off x="914400" y="5029200"/>
            <a:ext cx="1280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B5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FLOW</a:t>
            </a:r>
            <a:endParaRPr lang="en-US" sz="1100" dirty="0"/>
          </a:p>
        </p:txBody>
      </p:sp>
      <p:sp>
        <p:nvSpPr>
          <p:cNvPr id="31" name="Text 22"/>
          <p:cNvSpPr/>
          <p:nvPr/>
        </p:nvSpPr>
        <p:spPr>
          <a:xfrm>
            <a:off x="2011680" y="5029200"/>
            <a:ext cx="9326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Target  →  Nessus scan  →  JSON via REST API  →  Python engine  →  human approval  →  SSH patch  →  verify (2 ways)  →  Supabase + dashboard</a:t>
            </a:r>
            <a:endParaRPr lang="en-US" sz="1000" dirty="0"/>
          </a:p>
        </p:txBody>
      </p:sp>
      <p:sp>
        <p:nvSpPr>
          <p:cNvPr id="32" name="Text 23"/>
          <p:cNvSpPr/>
          <p:nvPr/>
        </p:nvSpPr>
        <p:spPr>
          <a:xfrm>
            <a:off x="457200" y="647395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69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AutoRemediate AI · DEPI Team 3</a:t>
            </a:r>
            <a:endParaRPr lang="en-US" sz="900" dirty="0"/>
          </a:p>
        </p:txBody>
      </p:sp>
      <p:sp>
        <p:nvSpPr>
          <p:cNvPr id="33" name="Text 24"/>
          <p:cNvSpPr/>
          <p:nvPr/>
        </p:nvSpPr>
        <p:spPr>
          <a:xfrm>
            <a:off x="11183112" y="647395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69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20624"/>
            <a:ext cx="146304" cy="146304"/>
          </a:xfrm>
          <a:prstGeom prst="ellipse">
            <a:avLst/>
          </a:prstGeom>
          <a:solidFill>
            <a:srgbClr val="0FB5BA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420624"/>
            <a:ext cx="146304" cy="146304"/>
          </a:xfrm>
          <a:prstGeom prst="ellipse">
            <a:avLst/>
          </a:prstGeom>
          <a:solidFill>
            <a:srgbClr val="0FB5BA">
              <a:alpha val="40000"/>
            </a:srgbClr>
          </a:solidFill>
          <a:ln w="12700">
            <a:solidFill>
              <a:srgbClr val="0FB5B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13232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0FB5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&amp; LAB ENVIRONMENT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13232" y="658368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Stack — Every Choice Justified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713232" y="1783080"/>
            <a:ext cx="2606040" cy="1783080"/>
          </a:xfrm>
          <a:prstGeom prst="roundRect">
            <a:avLst>
              <a:gd name="adj" fmla="val 5128"/>
            </a:avLst>
          </a:prstGeom>
          <a:solidFill>
            <a:srgbClr val="172033"/>
          </a:solidFill>
          <a:ln w="12700">
            <a:solidFill>
              <a:srgbClr val="22304D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41832" y="2011680"/>
            <a:ext cx="548640" cy="548640"/>
          </a:xfrm>
          <a:prstGeom prst="roundRect">
            <a:avLst>
              <a:gd name="adj" fmla="val 15000"/>
            </a:avLst>
          </a:prstGeom>
          <a:solidFill>
            <a:srgbClr val="1E2A42"/>
          </a:solidFill>
          <a:ln w="12700">
            <a:solidFill>
              <a:srgbClr val="0FB5BA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0704" y="2130552"/>
            <a:ext cx="310896" cy="31089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581912" y="2011680"/>
            <a:ext cx="1600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Windows 11 host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941832" y="265176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BFCB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the engine, Claude Code &amp; the web console.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3621024" y="1783080"/>
            <a:ext cx="2606040" cy="1783080"/>
          </a:xfrm>
          <a:prstGeom prst="roundRect">
            <a:avLst>
              <a:gd name="adj" fmla="val 5128"/>
            </a:avLst>
          </a:prstGeom>
          <a:solidFill>
            <a:srgbClr val="172033"/>
          </a:solidFill>
          <a:ln w="12700">
            <a:solidFill>
              <a:srgbClr val="22304D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849624" y="2011680"/>
            <a:ext cx="548640" cy="548640"/>
          </a:xfrm>
          <a:prstGeom prst="roundRect">
            <a:avLst>
              <a:gd name="adj" fmla="val 15000"/>
            </a:avLst>
          </a:prstGeom>
          <a:solidFill>
            <a:srgbClr val="1E2A42"/>
          </a:solidFill>
          <a:ln w="12700">
            <a:solidFill>
              <a:srgbClr val="0FB5BA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8496" y="2130552"/>
            <a:ext cx="310896" cy="31089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489704" y="2011680"/>
            <a:ext cx="1600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Kali Linux VM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3849624" y="265176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BFCB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Hosts the Nessus scanner; SSH-reachable on VMnet.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6528816" y="1783080"/>
            <a:ext cx="2606040" cy="1783080"/>
          </a:xfrm>
          <a:prstGeom prst="roundRect">
            <a:avLst>
              <a:gd name="adj" fmla="val 5128"/>
            </a:avLst>
          </a:prstGeom>
          <a:solidFill>
            <a:srgbClr val="172033"/>
          </a:solidFill>
          <a:ln w="12700">
            <a:solidFill>
              <a:srgbClr val="22304D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757416" y="2011680"/>
            <a:ext cx="548640" cy="548640"/>
          </a:xfrm>
          <a:prstGeom prst="roundRect">
            <a:avLst>
              <a:gd name="adj" fmla="val 15000"/>
            </a:avLst>
          </a:prstGeom>
          <a:solidFill>
            <a:srgbClr val="1E2A42"/>
          </a:solidFill>
          <a:ln w="12700">
            <a:solidFill>
              <a:srgbClr val="0FB5BA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76288" y="2130552"/>
            <a:ext cx="310896" cy="310896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7397496" y="2011680"/>
            <a:ext cx="1600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Metasploitable2 VM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757416" y="265176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BFCB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Deliberately vulnerable Ubuntu 8.04 target.</a:t>
            </a:r>
            <a:endParaRPr lang="en-US" sz="1150" dirty="0"/>
          </a:p>
        </p:txBody>
      </p:sp>
      <p:sp>
        <p:nvSpPr>
          <p:cNvPr id="21" name="Shape 16"/>
          <p:cNvSpPr/>
          <p:nvPr/>
        </p:nvSpPr>
        <p:spPr>
          <a:xfrm>
            <a:off x="9436608" y="1783080"/>
            <a:ext cx="2606040" cy="1783080"/>
          </a:xfrm>
          <a:prstGeom prst="roundRect">
            <a:avLst>
              <a:gd name="adj" fmla="val 5128"/>
            </a:avLst>
          </a:prstGeom>
          <a:solidFill>
            <a:srgbClr val="172033"/>
          </a:solidFill>
          <a:ln w="12700">
            <a:solidFill>
              <a:srgbClr val="22304D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9665208" y="2011680"/>
            <a:ext cx="548640" cy="548640"/>
          </a:xfrm>
          <a:prstGeom prst="roundRect">
            <a:avLst>
              <a:gd name="adj" fmla="val 15000"/>
            </a:avLst>
          </a:prstGeom>
          <a:solidFill>
            <a:srgbClr val="1E2A42"/>
          </a:solidFill>
          <a:ln w="12700">
            <a:solidFill>
              <a:srgbClr val="0FB5BA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84080" y="2130552"/>
            <a:ext cx="310896" cy="310896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0305288" y="2011680"/>
            <a:ext cx="1600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Nessus Essentials</a:t>
            </a:r>
            <a:endParaRPr lang="en-US" sz="1400" dirty="0"/>
          </a:p>
        </p:txBody>
      </p:sp>
      <p:sp>
        <p:nvSpPr>
          <p:cNvPr id="25" name="Text 19"/>
          <p:cNvSpPr/>
          <p:nvPr/>
        </p:nvSpPr>
        <p:spPr>
          <a:xfrm>
            <a:off x="9665208" y="265176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BFCB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Industry-standard scanner; REST API with X-ApiKeys auth.</a:t>
            </a:r>
            <a:endParaRPr lang="en-US" sz="1150" dirty="0"/>
          </a:p>
        </p:txBody>
      </p:sp>
      <p:sp>
        <p:nvSpPr>
          <p:cNvPr id="26" name="Shape 20"/>
          <p:cNvSpPr/>
          <p:nvPr/>
        </p:nvSpPr>
        <p:spPr>
          <a:xfrm>
            <a:off x="713232" y="3840480"/>
            <a:ext cx="2606040" cy="1783080"/>
          </a:xfrm>
          <a:prstGeom prst="roundRect">
            <a:avLst>
              <a:gd name="adj" fmla="val 5128"/>
            </a:avLst>
          </a:prstGeom>
          <a:solidFill>
            <a:srgbClr val="172033"/>
          </a:solidFill>
          <a:ln w="12700">
            <a:solidFill>
              <a:srgbClr val="22304D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941832" y="4069080"/>
            <a:ext cx="548640" cy="548640"/>
          </a:xfrm>
          <a:prstGeom prst="roundRect">
            <a:avLst>
              <a:gd name="adj" fmla="val 15000"/>
            </a:avLst>
          </a:prstGeom>
          <a:solidFill>
            <a:srgbClr val="1E2A42"/>
          </a:solidFill>
          <a:ln w="12700">
            <a:solidFill>
              <a:srgbClr val="0FB5BA"/>
            </a:solidFill>
            <a:prstDash val="solid"/>
          </a:ln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0704" y="4187952"/>
            <a:ext cx="310896" cy="310896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1581912" y="4069080"/>
            <a:ext cx="1600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Claude Code (Pro)</a:t>
            </a:r>
            <a:endParaRPr lang="en-US" sz="1400" dirty="0"/>
          </a:p>
        </p:txBody>
      </p:sp>
      <p:sp>
        <p:nvSpPr>
          <p:cNvPr id="30" name="Text 23"/>
          <p:cNvSpPr/>
          <p:nvPr/>
        </p:nvSpPr>
        <p:spPr>
          <a:xfrm>
            <a:off x="941832" y="470916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BFCB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build: wrote code, schema, docs, commits.</a:t>
            </a:r>
            <a:endParaRPr lang="en-US" sz="1150" dirty="0"/>
          </a:p>
        </p:txBody>
      </p:sp>
      <p:sp>
        <p:nvSpPr>
          <p:cNvPr id="31" name="Shape 24"/>
          <p:cNvSpPr/>
          <p:nvPr/>
        </p:nvSpPr>
        <p:spPr>
          <a:xfrm>
            <a:off x="3621024" y="3840480"/>
            <a:ext cx="2606040" cy="1783080"/>
          </a:xfrm>
          <a:prstGeom prst="roundRect">
            <a:avLst>
              <a:gd name="adj" fmla="val 5128"/>
            </a:avLst>
          </a:prstGeom>
          <a:solidFill>
            <a:srgbClr val="172033"/>
          </a:solidFill>
          <a:ln w="12700">
            <a:solidFill>
              <a:srgbClr val="22304D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32" name="Shape 25"/>
          <p:cNvSpPr/>
          <p:nvPr/>
        </p:nvSpPr>
        <p:spPr>
          <a:xfrm>
            <a:off x="3849624" y="4069080"/>
            <a:ext cx="548640" cy="548640"/>
          </a:xfrm>
          <a:prstGeom prst="roundRect">
            <a:avLst>
              <a:gd name="adj" fmla="val 15000"/>
            </a:avLst>
          </a:prstGeom>
          <a:solidFill>
            <a:srgbClr val="1E2A42"/>
          </a:solidFill>
          <a:ln w="12700">
            <a:solidFill>
              <a:srgbClr val="0FB5BA"/>
            </a:solidFill>
            <a:prstDash val="solid"/>
          </a:ln>
        </p:spPr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68496" y="4187952"/>
            <a:ext cx="310896" cy="310896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4489704" y="4069080"/>
            <a:ext cx="1600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Python + Paramiko</a:t>
            </a:r>
            <a:endParaRPr lang="en-US" sz="1400" dirty="0"/>
          </a:p>
        </p:txBody>
      </p:sp>
      <p:sp>
        <p:nvSpPr>
          <p:cNvPr id="35" name="Text 27"/>
          <p:cNvSpPr/>
          <p:nvPr/>
        </p:nvSpPr>
        <p:spPr>
          <a:xfrm>
            <a:off x="3849624" y="470916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BFCB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 engine + encrypted SSH executor.</a:t>
            </a:r>
            <a:endParaRPr lang="en-US" sz="1150" dirty="0"/>
          </a:p>
        </p:txBody>
      </p:sp>
      <p:sp>
        <p:nvSpPr>
          <p:cNvPr id="36" name="Shape 28"/>
          <p:cNvSpPr/>
          <p:nvPr/>
        </p:nvSpPr>
        <p:spPr>
          <a:xfrm>
            <a:off x="6528816" y="3840480"/>
            <a:ext cx="2606040" cy="1783080"/>
          </a:xfrm>
          <a:prstGeom prst="roundRect">
            <a:avLst>
              <a:gd name="adj" fmla="val 5128"/>
            </a:avLst>
          </a:prstGeom>
          <a:solidFill>
            <a:srgbClr val="172033"/>
          </a:solidFill>
          <a:ln w="12700">
            <a:solidFill>
              <a:srgbClr val="22304D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37" name="Shape 29"/>
          <p:cNvSpPr/>
          <p:nvPr/>
        </p:nvSpPr>
        <p:spPr>
          <a:xfrm>
            <a:off x="6757416" y="4069080"/>
            <a:ext cx="548640" cy="548640"/>
          </a:xfrm>
          <a:prstGeom prst="roundRect">
            <a:avLst>
              <a:gd name="adj" fmla="val 15000"/>
            </a:avLst>
          </a:prstGeom>
          <a:solidFill>
            <a:srgbClr val="1E2A42"/>
          </a:solidFill>
          <a:ln w="12700">
            <a:solidFill>
              <a:srgbClr val="0FB5BA"/>
            </a:solidFill>
            <a:prstDash val="solid"/>
          </a:ln>
        </p:spPr>
      </p:sp>
      <p:pic>
        <p:nvPicPr>
          <p:cNvPr id="3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76288" y="4187952"/>
            <a:ext cx="310896" cy="310896"/>
          </a:xfrm>
          <a:prstGeom prst="rect">
            <a:avLst/>
          </a:prstGeom>
        </p:spPr>
      </p:pic>
      <p:sp>
        <p:nvSpPr>
          <p:cNvPr id="39" name="Text 30"/>
          <p:cNvSpPr/>
          <p:nvPr/>
        </p:nvSpPr>
        <p:spPr>
          <a:xfrm>
            <a:off x="7397496" y="4069080"/>
            <a:ext cx="1600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Supabase (Postgres)</a:t>
            </a:r>
            <a:endParaRPr lang="en-US" sz="1400" dirty="0"/>
          </a:p>
        </p:txBody>
      </p:sp>
      <p:sp>
        <p:nvSpPr>
          <p:cNvPr id="40" name="Text 31"/>
          <p:cNvSpPr/>
          <p:nvPr/>
        </p:nvSpPr>
        <p:spPr>
          <a:xfrm>
            <a:off x="6757416" y="470916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BFCB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relational store for findings &amp; action logs.</a:t>
            </a:r>
            <a:endParaRPr lang="en-US" sz="1150" dirty="0"/>
          </a:p>
        </p:txBody>
      </p:sp>
      <p:sp>
        <p:nvSpPr>
          <p:cNvPr id="41" name="Shape 32"/>
          <p:cNvSpPr/>
          <p:nvPr/>
        </p:nvSpPr>
        <p:spPr>
          <a:xfrm>
            <a:off x="9436608" y="3840480"/>
            <a:ext cx="2606040" cy="1783080"/>
          </a:xfrm>
          <a:prstGeom prst="roundRect">
            <a:avLst>
              <a:gd name="adj" fmla="val 5128"/>
            </a:avLst>
          </a:prstGeom>
          <a:solidFill>
            <a:srgbClr val="172033"/>
          </a:solidFill>
          <a:ln w="12700">
            <a:solidFill>
              <a:srgbClr val="22304D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42" name="Shape 33"/>
          <p:cNvSpPr/>
          <p:nvPr/>
        </p:nvSpPr>
        <p:spPr>
          <a:xfrm>
            <a:off x="9665208" y="4069080"/>
            <a:ext cx="548640" cy="548640"/>
          </a:xfrm>
          <a:prstGeom prst="roundRect">
            <a:avLst>
              <a:gd name="adj" fmla="val 15000"/>
            </a:avLst>
          </a:prstGeom>
          <a:solidFill>
            <a:srgbClr val="1E2A42"/>
          </a:solidFill>
          <a:ln w="12700">
            <a:solidFill>
              <a:srgbClr val="0FB5BA"/>
            </a:solidFill>
            <a:prstDash val="solid"/>
          </a:ln>
        </p:spPr>
      </p:sp>
      <p:pic>
        <p:nvPicPr>
          <p:cNvPr id="4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784080" y="4187952"/>
            <a:ext cx="310896" cy="310896"/>
          </a:xfrm>
          <a:prstGeom prst="rect">
            <a:avLst/>
          </a:prstGeom>
        </p:spPr>
      </p:pic>
      <p:sp>
        <p:nvSpPr>
          <p:cNvPr id="44" name="Text 34"/>
          <p:cNvSpPr/>
          <p:nvPr/>
        </p:nvSpPr>
        <p:spPr>
          <a:xfrm>
            <a:off x="10305288" y="4069080"/>
            <a:ext cx="1600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Flask Web Console</a:t>
            </a:r>
            <a:endParaRPr lang="en-US" sz="1400" dirty="0"/>
          </a:p>
        </p:txBody>
      </p:sp>
      <p:sp>
        <p:nvSpPr>
          <p:cNvPr id="45" name="Text 35"/>
          <p:cNvSpPr/>
          <p:nvPr/>
        </p:nvSpPr>
        <p:spPr>
          <a:xfrm>
            <a:off x="9665208" y="470916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BFCB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UI where the human approves each fix.</a:t>
            </a:r>
            <a:endParaRPr lang="en-US" sz="1150" dirty="0"/>
          </a:p>
        </p:txBody>
      </p:sp>
      <p:sp>
        <p:nvSpPr>
          <p:cNvPr id="46" name="Text 36"/>
          <p:cNvSpPr/>
          <p:nvPr/>
        </p:nvSpPr>
        <p:spPr>
          <a:xfrm>
            <a:off x="457200" y="647395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69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AutoRemediate AI · DEPI Team 3</a:t>
            </a:r>
            <a:endParaRPr lang="en-US" sz="900" dirty="0"/>
          </a:p>
        </p:txBody>
      </p:sp>
      <p:sp>
        <p:nvSpPr>
          <p:cNvPr id="47" name="Text 37"/>
          <p:cNvSpPr/>
          <p:nvPr/>
        </p:nvSpPr>
        <p:spPr>
          <a:xfrm>
            <a:off x="11183112" y="647395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69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20624"/>
            <a:ext cx="146304" cy="146304"/>
          </a:xfrm>
          <a:prstGeom prst="ellipse">
            <a:avLst/>
          </a:prstGeom>
          <a:solidFill>
            <a:srgbClr val="0FB5BA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420624"/>
            <a:ext cx="146304" cy="146304"/>
          </a:xfrm>
          <a:prstGeom prst="ellipse">
            <a:avLst/>
          </a:prstGeom>
          <a:solidFill>
            <a:srgbClr val="0FB5BA">
              <a:alpha val="40000"/>
            </a:srgbClr>
          </a:solidFill>
          <a:ln w="12700">
            <a:solidFill>
              <a:srgbClr val="0FB5B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13232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0FB5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LIFECYCLE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13232" y="658368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Four-Week Engineering Sprint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1463040" y="1801368"/>
            <a:ext cx="9235440" cy="0"/>
          </a:xfrm>
          <a:prstGeom prst="line">
            <a:avLst/>
          </a:prstGeom>
          <a:noFill/>
          <a:ln w="25400">
            <a:solidFill>
              <a:srgbClr val="22304D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1869948" y="1645920"/>
            <a:ext cx="292608" cy="292608"/>
          </a:xfrm>
          <a:prstGeom prst="ellipse">
            <a:avLst/>
          </a:prstGeom>
          <a:solidFill>
            <a:srgbClr val="0FB5BA"/>
          </a:solidFill>
          <a:ln w="25400">
            <a:solidFill>
              <a:srgbClr val="0A0E1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13232" y="2194560"/>
            <a:ext cx="2606040" cy="3154680"/>
          </a:xfrm>
          <a:prstGeom prst="roundRect">
            <a:avLst>
              <a:gd name="adj" fmla="val 3509"/>
            </a:avLst>
          </a:prstGeom>
          <a:solidFill>
            <a:srgbClr val="172033"/>
          </a:solidFill>
          <a:ln w="12700">
            <a:solidFill>
              <a:srgbClr val="22304D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941832" y="237744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B5B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W1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941832" y="306324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Preparation &amp; Scope</a:t>
            </a:r>
            <a:endParaRPr lang="en-US" sz="15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9264" y="3749040"/>
            <a:ext cx="182880" cy="18288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243584" y="3675888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FCB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Host-only lab isolation</a:t>
            </a:r>
            <a:endParaRPr lang="en-US" sz="115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264" y="4251960"/>
            <a:ext cx="182880" cy="18288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243584" y="4178808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FCB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Nessus install &amp; API keys</a:t>
            </a:r>
            <a:endParaRPr lang="en-US" sz="1150" dirty="0"/>
          </a:p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264" y="4754880"/>
            <a:ext cx="182880" cy="18288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243584" y="4681728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FCB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Config + Scope docs</a:t>
            </a:r>
            <a:endParaRPr lang="en-US" sz="1150" dirty="0"/>
          </a:p>
        </p:txBody>
      </p:sp>
      <p:sp>
        <p:nvSpPr>
          <p:cNvPr id="17" name="Shape 12"/>
          <p:cNvSpPr/>
          <p:nvPr/>
        </p:nvSpPr>
        <p:spPr>
          <a:xfrm>
            <a:off x="4777740" y="1645920"/>
            <a:ext cx="292608" cy="292608"/>
          </a:xfrm>
          <a:prstGeom prst="ellipse">
            <a:avLst/>
          </a:prstGeom>
          <a:solidFill>
            <a:srgbClr val="A78BFA"/>
          </a:solidFill>
          <a:ln w="25400">
            <a:solidFill>
              <a:srgbClr val="0A0E1A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3621024" y="2194560"/>
            <a:ext cx="2606040" cy="3154680"/>
          </a:xfrm>
          <a:prstGeom prst="roundRect">
            <a:avLst>
              <a:gd name="adj" fmla="val 3509"/>
            </a:avLst>
          </a:prstGeom>
          <a:solidFill>
            <a:srgbClr val="172033"/>
          </a:solidFill>
          <a:ln w="12700">
            <a:solidFill>
              <a:srgbClr val="22304D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9" name="Text 14"/>
          <p:cNvSpPr/>
          <p:nvPr/>
        </p:nvSpPr>
        <p:spPr>
          <a:xfrm>
            <a:off x="3849624" y="237744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A78B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W2</a:t>
            </a:r>
            <a:endParaRPr lang="en-US" sz="3000" dirty="0"/>
          </a:p>
        </p:txBody>
      </p:sp>
      <p:sp>
        <p:nvSpPr>
          <p:cNvPr id="20" name="Text 15"/>
          <p:cNvSpPr/>
          <p:nvPr/>
        </p:nvSpPr>
        <p:spPr>
          <a:xfrm>
            <a:off x="3849624" y="306324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Active Assessment</a:t>
            </a:r>
            <a:endParaRPr lang="en-US" sz="1500" dirty="0"/>
          </a:p>
        </p:txBody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77056" y="3749040"/>
            <a:ext cx="182880" cy="18288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4151376" y="3675888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FCB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Basic Network Scan</a:t>
            </a:r>
            <a:endParaRPr lang="en-US" sz="1150" dirty="0"/>
          </a:p>
        </p:txBody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77056" y="4251960"/>
            <a:ext cx="182880" cy="18288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4151376" y="4178808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FCB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 findings, JSON export</a:t>
            </a:r>
            <a:endParaRPr lang="en-US" sz="1150" dirty="0"/>
          </a:p>
        </p:txBody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77056" y="4754880"/>
            <a:ext cx="182880" cy="18288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4151376" y="4681728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FCB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Report + Analysis</a:t>
            </a:r>
            <a:endParaRPr lang="en-US" sz="1150" dirty="0"/>
          </a:p>
        </p:txBody>
      </p:sp>
      <p:sp>
        <p:nvSpPr>
          <p:cNvPr id="27" name="Shape 19"/>
          <p:cNvSpPr/>
          <p:nvPr/>
        </p:nvSpPr>
        <p:spPr>
          <a:xfrm>
            <a:off x="7685532" y="1645920"/>
            <a:ext cx="292608" cy="292608"/>
          </a:xfrm>
          <a:prstGeom prst="ellipse">
            <a:avLst/>
          </a:prstGeom>
          <a:solidFill>
            <a:srgbClr val="FBBF24"/>
          </a:solidFill>
          <a:ln w="25400">
            <a:solidFill>
              <a:srgbClr val="0A0E1A"/>
            </a:solidFill>
            <a:prstDash val="solid"/>
          </a:ln>
        </p:spPr>
      </p:sp>
      <p:sp>
        <p:nvSpPr>
          <p:cNvPr id="28" name="Shape 20"/>
          <p:cNvSpPr/>
          <p:nvPr/>
        </p:nvSpPr>
        <p:spPr>
          <a:xfrm>
            <a:off x="6528816" y="2194560"/>
            <a:ext cx="2606040" cy="3154680"/>
          </a:xfrm>
          <a:prstGeom prst="roundRect">
            <a:avLst>
              <a:gd name="adj" fmla="val 3509"/>
            </a:avLst>
          </a:prstGeom>
          <a:solidFill>
            <a:srgbClr val="172033"/>
          </a:solidFill>
          <a:ln w="12700">
            <a:solidFill>
              <a:srgbClr val="22304D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29" name="Text 21"/>
          <p:cNvSpPr/>
          <p:nvPr/>
        </p:nvSpPr>
        <p:spPr>
          <a:xfrm>
            <a:off x="6757416" y="237744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BB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W3</a:t>
            </a:r>
            <a:endParaRPr lang="en-US" sz="3000" dirty="0"/>
          </a:p>
        </p:txBody>
      </p:sp>
      <p:sp>
        <p:nvSpPr>
          <p:cNvPr id="30" name="Text 22"/>
          <p:cNvSpPr/>
          <p:nvPr/>
        </p:nvSpPr>
        <p:spPr>
          <a:xfrm>
            <a:off x="6757416" y="306324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Remediation Logic</a:t>
            </a:r>
            <a:endParaRPr lang="en-US" sz="1500" dirty="0"/>
          </a:p>
        </p:txBody>
      </p:sp>
      <p:pic>
        <p:nvPicPr>
          <p:cNvPr id="3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84848" y="3749040"/>
            <a:ext cx="182880" cy="182880"/>
          </a:xfrm>
          <a:prstGeom prst="rect">
            <a:avLst/>
          </a:prstGeom>
        </p:spPr>
      </p:pic>
      <p:sp>
        <p:nvSpPr>
          <p:cNvPr id="32" name="Text 23"/>
          <p:cNvSpPr/>
          <p:nvPr/>
        </p:nvSpPr>
        <p:spPr>
          <a:xfrm>
            <a:off x="7059168" y="3675888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FCB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scorer &amp; ladder</a:t>
            </a:r>
            <a:endParaRPr lang="en-US" sz="1150" dirty="0"/>
          </a:p>
        </p:txBody>
      </p:sp>
      <p:pic>
        <p:nvPicPr>
          <p:cNvPr id="3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84848" y="4251960"/>
            <a:ext cx="182880" cy="182880"/>
          </a:xfrm>
          <a:prstGeom prst="rect">
            <a:avLst/>
          </a:prstGeom>
        </p:spPr>
      </p:pic>
      <p:sp>
        <p:nvSpPr>
          <p:cNvPr id="34" name="Text 24"/>
          <p:cNvSpPr/>
          <p:nvPr/>
        </p:nvSpPr>
        <p:spPr>
          <a:xfrm>
            <a:off x="7059168" y="4178808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FCB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 workflow + tests</a:t>
            </a:r>
            <a:endParaRPr lang="en-US" sz="1150" dirty="0"/>
          </a:p>
        </p:txBody>
      </p:sp>
      <p:pic>
        <p:nvPicPr>
          <p:cNvPr id="35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784848" y="4754880"/>
            <a:ext cx="182880" cy="182880"/>
          </a:xfrm>
          <a:prstGeom prst="rect">
            <a:avLst/>
          </a:prstGeom>
        </p:spPr>
      </p:pic>
      <p:sp>
        <p:nvSpPr>
          <p:cNvPr id="36" name="Text 25"/>
          <p:cNvSpPr/>
          <p:nvPr/>
        </p:nvSpPr>
        <p:spPr>
          <a:xfrm>
            <a:off x="7059168" y="4681728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FCB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Prioritization + Plan docs</a:t>
            </a:r>
            <a:endParaRPr lang="en-US" sz="1150" dirty="0"/>
          </a:p>
        </p:txBody>
      </p:sp>
      <p:sp>
        <p:nvSpPr>
          <p:cNvPr id="37" name="Shape 26"/>
          <p:cNvSpPr/>
          <p:nvPr/>
        </p:nvSpPr>
        <p:spPr>
          <a:xfrm>
            <a:off x="10593324" y="1645920"/>
            <a:ext cx="292608" cy="292608"/>
          </a:xfrm>
          <a:prstGeom prst="ellipse">
            <a:avLst/>
          </a:prstGeom>
          <a:solidFill>
            <a:srgbClr val="10B981"/>
          </a:solidFill>
          <a:ln w="25400">
            <a:solidFill>
              <a:srgbClr val="0A0E1A"/>
            </a:solidFill>
            <a:prstDash val="solid"/>
          </a:ln>
        </p:spPr>
      </p:sp>
      <p:sp>
        <p:nvSpPr>
          <p:cNvPr id="38" name="Shape 27"/>
          <p:cNvSpPr/>
          <p:nvPr/>
        </p:nvSpPr>
        <p:spPr>
          <a:xfrm>
            <a:off x="9436608" y="2194560"/>
            <a:ext cx="2606040" cy="3154680"/>
          </a:xfrm>
          <a:prstGeom prst="roundRect">
            <a:avLst>
              <a:gd name="adj" fmla="val 3509"/>
            </a:avLst>
          </a:prstGeom>
          <a:solidFill>
            <a:srgbClr val="172033"/>
          </a:solidFill>
          <a:ln w="12700">
            <a:solidFill>
              <a:srgbClr val="22304D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39" name="Text 28"/>
          <p:cNvSpPr/>
          <p:nvPr/>
        </p:nvSpPr>
        <p:spPr>
          <a:xfrm>
            <a:off x="9665208" y="237744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B98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W4</a:t>
            </a:r>
            <a:endParaRPr lang="en-US" sz="3000" dirty="0"/>
          </a:p>
        </p:txBody>
      </p:sp>
      <p:sp>
        <p:nvSpPr>
          <p:cNvPr id="40" name="Text 29"/>
          <p:cNvSpPr/>
          <p:nvPr/>
        </p:nvSpPr>
        <p:spPr>
          <a:xfrm>
            <a:off x="9665208" y="306324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Execute &amp; Verify</a:t>
            </a:r>
            <a:endParaRPr lang="en-US" sz="1500" dirty="0"/>
          </a:p>
        </p:txBody>
      </p:sp>
      <p:pic>
        <p:nvPicPr>
          <p:cNvPr id="4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692640" y="3749040"/>
            <a:ext cx="182880" cy="182880"/>
          </a:xfrm>
          <a:prstGeom prst="rect">
            <a:avLst/>
          </a:prstGeom>
        </p:spPr>
      </p:pic>
      <p:sp>
        <p:nvSpPr>
          <p:cNvPr id="42" name="Text 30"/>
          <p:cNvSpPr/>
          <p:nvPr/>
        </p:nvSpPr>
        <p:spPr>
          <a:xfrm>
            <a:off x="9966960" y="3675888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FCB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SSH remediation</a:t>
            </a:r>
            <a:endParaRPr lang="en-US" sz="1150" dirty="0"/>
          </a:p>
        </p:txBody>
      </p:sp>
      <p:pic>
        <p:nvPicPr>
          <p:cNvPr id="43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692640" y="4251960"/>
            <a:ext cx="182880" cy="182880"/>
          </a:xfrm>
          <a:prstGeom prst="rect">
            <a:avLst/>
          </a:prstGeom>
        </p:spPr>
      </p:pic>
      <p:sp>
        <p:nvSpPr>
          <p:cNvPr id="44" name="Text 31"/>
          <p:cNvSpPr/>
          <p:nvPr/>
        </p:nvSpPr>
        <p:spPr>
          <a:xfrm>
            <a:off x="9966960" y="4178808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FCB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Before/after verify scan</a:t>
            </a:r>
            <a:endParaRPr lang="en-US" sz="1150" dirty="0"/>
          </a:p>
        </p:txBody>
      </p:sp>
      <p:pic>
        <p:nvPicPr>
          <p:cNvPr id="45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692640" y="4754880"/>
            <a:ext cx="182880" cy="182880"/>
          </a:xfrm>
          <a:prstGeom prst="rect">
            <a:avLst/>
          </a:prstGeom>
        </p:spPr>
      </p:pic>
      <p:sp>
        <p:nvSpPr>
          <p:cNvPr id="46" name="Text 32"/>
          <p:cNvSpPr/>
          <p:nvPr/>
        </p:nvSpPr>
        <p:spPr>
          <a:xfrm>
            <a:off x="9966960" y="4681728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FCB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console + final report</a:t>
            </a:r>
            <a:endParaRPr lang="en-US" sz="1150" dirty="0"/>
          </a:p>
        </p:txBody>
      </p:sp>
      <p:sp>
        <p:nvSpPr>
          <p:cNvPr id="47" name="Text 33"/>
          <p:cNvSpPr/>
          <p:nvPr/>
        </p:nvSpPr>
        <p:spPr>
          <a:xfrm>
            <a:off x="457200" y="647395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69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AutoRemediate AI · DEPI Team 3</a:t>
            </a:r>
            <a:endParaRPr lang="en-US" sz="900" dirty="0"/>
          </a:p>
        </p:txBody>
      </p:sp>
      <p:sp>
        <p:nvSpPr>
          <p:cNvPr id="48" name="Text 34"/>
          <p:cNvSpPr/>
          <p:nvPr/>
        </p:nvSpPr>
        <p:spPr>
          <a:xfrm>
            <a:off x="11183112" y="647395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69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20624"/>
            <a:ext cx="146304" cy="146304"/>
          </a:xfrm>
          <a:prstGeom prst="ellipse">
            <a:avLst/>
          </a:prstGeom>
          <a:solidFill>
            <a:srgbClr val="0FB5BA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420624"/>
            <a:ext cx="146304" cy="146304"/>
          </a:xfrm>
          <a:prstGeom prst="ellipse">
            <a:avLst/>
          </a:prstGeom>
          <a:solidFill>
            <a:srgbClr val="0FB5BA">
              <a:alpha val="40000"/>
            </a:srgbClr>
          </a:solidFill>
          <a:ln w="12700">
            <a:solidFill>
              <a:srgbClr val="0FB5B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13232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0FB5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TO BE TESTED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13232" y="658368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Pillars the Evaluator Verifies by Hand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713232" y="1828800"/>
            <a:ext cx="3474720" cy="3931920"/>
          </a:xfrm>
          <a:prstGeom prst="roundRect">
            <a:avLst>
              <a:gd name="adj" fmla="val 2632"/>
            </a:avLst>
          </a:prstGeom>
          <a:solidFill>
            <a:srgbClr val="172033"/>
          </a:solidFill>
          <a:ln w="12700">
            <a:solidFill>
              <a:srgbClr val="22304D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993392" y="2148840"/>
            <a:ext cx="914400" cy="914400"/>
          </a:xfrm>
          <a:prstGeom prst="roundRect">
            <a:avLst>
              <a:gd name="adj" fmla="val 14000"/>
            </a:avLst>
          </a:prstGeom>
          <a:solidFill>
            <a:srgbClr val="1E2A42"/>
          </a:solidFill>
          <a:ln w="19050">
            <a:solidFill>
              <a:srgbClr val="FBBF24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99132" y="2350008"/>
            <a:ext cx="502920" cy="5029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96112" y="324612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BB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· No Auto-Approval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1033272" y="4114800"/>
            <a:ext cx="2834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BFCB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engine pauses on every finding and blocks until a human chooses. No path executes a change without an explicit click/keystroke.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4498848" y="1828800"/>
            <a:ext cx="3474720" cy="3931920"/>
          </a:xfrm>
          <a:prstGeom prst="roundRect">
            <a:avLst>
              <a:gd name="adj" fmla="val 2632"/>
            </a:avLst>
          </a:prstGeom>
          <a:solidFill>
            <a:srgbClr val="172033"/>
          </a:solidFill>
          <a:ln w="12700">
            <a:solidFill>
              <a:srgbClr val="22304D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779008" y="2148840"/>
            <a:ext cx="914400" cy="914400"/>
          </a:xfrm>
          <a:prstGeom prst="roundRect">
            <a:avLst>
              <a:gd name="adj" fmla="val 14000"/>
            </a:avLst>
          </a:prstGeom>
          <a:solidFill>
            <a:srgbClr val="1E2A42"/>
          </a:solidFill>
          <a:ln w="19050">
            <a:solidFill>
              <a:srgbClr val="0FB5BA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4748" y="2350008"/>
            <a:ext cx="502920" cy="5029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681728" y="324612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B5B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· Prioritized Recommendations</a:t>
            </a:r>
            <a:endParaRPr lang="en-US" sz="1800" dirty="0"/>
          </a:p>
        </p:txBody>
      </p:sp>
      <p:sp>
        <p:nvSpPr>
          <p:cNvPr id="15" name="Text 11"/>
          <p:cNvSpPr/>
          <p:nvPr/>
        </p:nvSpPr>
        <p:spPr>
          <a:xfrm>
            <a:off x="4818888" y="4114800"/>
            <a:ext cx="2834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BFCB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finding shows a scored, preferred fix first — then alternatives and containment options, by criteria we defined.</a:t>
            </a:r>
            <a:endParaRPr lang="en-US" sz="1350" dirty="0"/>
          </a:p>
        </p:txBody>
      </p:sp>
      <p:sp>
        <p:nvSpPr>
          <p:cNvPr id="16" name="Shape 12"/>
          <p:cNvSpPr/>
          <p:nvPr/>
        </p:nvSpPr>
        <p:spPr>
          <a:xfrm>
            <a:off x="8284464" y="1828800"/>
            <a:ext cx="3474720" cy="3931920"/>
          </a:xfrm>
          <a:prstGeom prst="roundRect">
            <a:avLst>
              <a:gd name="adj" fmla="val 2632"/>
            </a:avLst>
          </a:prstGeom>
          <a:solidFill>
            <a:srgbClr val="172033"/>
          </a:solidFill>
          <a:ln w="12700">
            <a:solidFill>
              <a:srgbClr val="22304D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9564624" y="2148840"/>
            <a:ext cx="914400" cy="914400"/>
          </a:xfrm>
          <a:prstGeom prst="roundRect">
            <a:avLst>
              <a:gd name="adj" fmla="val 14000"/>
            </a:avLst>
          </a:prstGeom>
          <a:solidFill>
            <a:srgbClr val="1E2A42"/>
          </a:solidFill>
          <a:ln w="19050">
            <a:solidFill>
              <a:srgbClr val="10B981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70364" y="2350008"/>
            <a:ext cx="502920" cy="50292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467344" y="324612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0B98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· Real, Verified Action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8604504" y="4114800"/>
            <a:ext cx="2834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BFCB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 fixes actually stop services / close ports on the live VM, confirmed two independent ways and logged.</a:t>
            </a:r>
            <a:endParaRPr lang="en-US" sz="1350" dirty="0"/>
          </a:p>
        </p:txBody>
      </p:sp>
      <p:sp>
        <p:nvSpPr>
          <p:cNvPr id="21" name="Text 16"/>
          <p:cNvSpPr/>
          <p:nvPr/>
        </p:nvSpPr>
        <p:spPr>
          <a:xfrm>
            <a:off x="457200" y="647395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69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AutoRemediate AI · DEPI Team 3</a:t>
            </a:r>
            <a:endParaRPr lang="en-US" sz="900" dirty="0"/>
          </a:p>
        </p:txBody>
      </p:sp>
      <p:sp>
        <p:nvSpPr>
          <p:cNvPr id="22" name="Text 17"/>
          <p:cNvSpPr/>
          <p:nvPr/>
        </p:nvSpPr>
        <p:spPr>
          <a:xfrm>
            <a:off x="11183112" y="647395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69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20624"/>
            <a:ext cx="146304" cy="146304"/>
          </a:xfrm>
          <a:prstGeom prst="ellipse">
            <a:avLst/>
          </a:prstGeom>
          <a:solidFill>
            <a:srgbClr val="0FB5BA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420624"/>
            <a:ext cx="146304" cy="146304"/>
          </a:xfrm>
          <a:prstGeom prst="ellipse">
            <a:avLst/>
          </a:prstGeom>
          <a:solidFill>
            <a:srgbClr val="0FB5BA">
              <a:alpha val="40000"/>
            </a:srgbClr>
          </a:solidFill>
          <a:ln w="12700">
            <a:solidFill>
              <a:srgbClr val="0FB5B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13232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0FB5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 1 — HUMAN-IN-THE-LOOP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13232" y="658368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Nothing Changes Without Your Approval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713232" y="1828800"/>
            <a:ext cx="466344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0FB5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
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BFCB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tools that self-apply changes can cause outages. Like Cursor or Antigravity asking permission, our engine refuses to act until a human signs off — per finding.
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0FB5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is enforced
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BFCB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require_manual_approval = true is the default and has no silent bypass. Every decision — approve, alternative, skip — is written to the audit log with the operator's choice.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623560" y="1783080"/>
            <a:ext cx="5852160" cy="4114800"/>
          </a:xfrm>
          <a:prstGeom prst="roundRect">
            <a:avLst>
              <a:gd name="adj" fmla="val 2222"/>
            </a:avLst>
          </a:prstGeom>
          <a:solidFill>
            <a:srgbClr val="0B1220"/>
          </a:solidFill>
          <a:ln w="12700">
            <a:solidFill>
              <a:srgbClr val="22304D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897880" y="201168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B5B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DECISION REQUIRED  [1 / 15]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897880" y="2377440"/>
            <a:ext cx="5303520" cy="0"/>
          </a:xfrm>
          <a:prstGeom prst="line">
            <a:avLst/>
          </a:prstGeom>
          <a:noFill/>
          <a:ln w="12700">
            <a:solidFill>
              <a:srgbClr val="22304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89320" y="251460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FB5B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Plugin:  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Bind Shell Backdoor Detection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989320" y="2898648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FB5B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Severity: </a:t>
            </a:r>
            <a:pPr indent="0" marL="0">
              <a:buNone/>
            </a:pPr>
            <a:r>
              <a:rPr lang="en-US" sz="1250" dirty="0">
                <a:solidFill>
                  <a:srgbClr val="F43F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CRITICAL    Port 1524    Score 155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989320" y="3282696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pPr indent="0" marL="0">
              <a:buNone/>
            </a:pP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989320" y="3666744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FB5B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[A] </a:t>
            </a:r>
            <a:pPr indent="0" marL="0">
              <a:buNone/>
            </a:pPr>
            <a:r>
              <a:rPr lang="en-US" sz="125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RECOMMENDED (Rung 2): iptables DROP 1524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989320" y="4050792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FB5B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[2] </a:t>
            </a:r>
            <a:pPr indent="0" marL="0">
              <a:buNone/>
            </a:pPr>
            <a:r>
              <a:rPr lang="en-US" sz="1250" dirty="0">
                <a:solidFill>
                  <a:srgbClr val="BFCB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ALTERNATIVE: monitor only — log, no change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5989320" y="443484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FB5B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[R] </a:t>
            </a:r>
            <a:pPr indent="0" marL="0">
              <a:buNone/>
            </a:pPr>
            <a:r>
              <a:rPr lang="en-US" sz="125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REJECT / SKIP   [Q] QUIT cleanly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989320" y="5074920"/>
            <a:ext cx="5120640" cy="566928"/>
          </a:xfrm>
          <a:prstGeom prst="roundRect">
            <a:avLst>
              <a:gd name="adj" fmla="val 12903"/>
            </a:avLst>
          </a:prstGeom>
          <a:solidFill>
            <a:srgbClr val="0E2A2C"/>
          </a:solidFill>
          <a:ln w="12700">
            <a:solidFill>
              <a:srgbClr val="0FB5B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72200" y="5074920"/>
            <a:ext cx="4846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B5B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Your decision [A / 2 / R / Q]:  _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7200" y="647395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69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AutoRemediate AI · DEPI Team 3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183112" y="647395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69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20624"/>
            <a:ext cx="146304" cy="146304"/>
          </a:xfrm>
          <a:prstGeom prst="ellipse">
            <a:avLst/>
          </a:prstGeom>
          <a:solidFill>
            <a:srgbClr val="0FB5BA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420624"/>
            <a:ext cx="146304" cy="146304"/>
          </a:xfrm>
          <a:prstGeom prst="ellipse">
            <a:avLst/>
          </a:prstGeom>
          <a:solidFill>
            <a:srgbClr val="0FB5BA">
              <a:alpha val="40000"/>
            </a:srgbClr>
          </a:solidFill>
          <a:ln w="12700">
            <a:solidFill>
              <a:srgbClr val="0FB5B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13232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0FB5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 2 — PRIORITIZATION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13232" y="658368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 Scoring — Criteria We Authored</a:t>
            </a:r>
            <a:endParaRPr lang="en-US" sz="3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13232" y="1874520"/>
          <a:ext cx="5486400" cy="914400"/>
        </p:xfrm>
        <a:graphic>
          <a:graphicData uri="http://schemas.openxmlformats.org/drawingml/2006/table">
            <a:tbl>
              <a:tblPr/>
              <a:tblGrid>
                <a:gridCol w="3840480"/>
                <a:gridCol w="1645920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Factor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223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3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3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3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Points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223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3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3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3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BFCBD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Critical / High / Medium / Low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223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3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3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3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FB5B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100 / 70 / 40 / 10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223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3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3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3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33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BFCBD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Known backdoor / active exploit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223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3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3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3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72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FB5B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+40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223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3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3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3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72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BFCBD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Public PoC, not weaponized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223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3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3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3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FB5B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+20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223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3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3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3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33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BFCBD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authentication required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223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3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3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3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72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FB5B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+15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223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3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3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3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72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BFCBD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Service listening &amp; reachable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223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3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3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3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FB5B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+15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223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3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3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3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33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713232" y="507492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869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Sorted highest-first; ties broken by lower port, then newer CVE — all inputs come from real Nessus fields.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492240" y="1828800"/>
            <a:ext cx="4983480" cy="3931920"/>
          </a:xfrm>
          <a:prstGeom prst="roundRect">
            <a:avLst>
              <a:gd name="adj" fmla="val 2326"/>
            </a:avLst>
          </a:prstGeom>
          <a:solidFill>
            <a:srgbClr val="172033"/>
          </a:solidFill>
          <a:ln w="12700">
            <a:solidFill>
              <a:srgbClr val="22304D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720840" y="20116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FB5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FINDINGS BY PRIORITY SCORE</a:t>
            </a:r>
            <a:endParaRPr lang="en-US" sz="1100" dirty="0"/>
          </a:p>
        </p:txBody>
      </p:sp>
      <p:graphicFrame>
        <p:nvGraphicFramePr>
          <p:cNvPr id="10" name="Chart 0" descr=""/>
          <p:cNvGraphicFramePr/>
          <p:nvPr/>
        </p:nvGraphicFramePr>
        <p:xfrm>
          <a:off x="6629400" y="2331720"/>
          <a:ext cx="4709160" cy="3246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1" name="Text 7"/>
          <p:cNvSpPr/>
          <p:nvPr/>
        </p:nvSpPr>
        <p:spPr>
          <a:xfrm>
            <a:off x="457200" y="647395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69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AutoRemediate AI · DEPI Team 3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11183112" y="647395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69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20624"/>
            <a:ext cx="146304" cy="146304"/>
          </a:xfrm>
          <a:prstGeom prst="ellipse">
            <a:avLst/>
          </a:prstGeom>
          <a:solidFill>
            <a:srgbClr val="0FB5BA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420624"/>
            <a:ext cx="146304" cy="146304"/>
          </a:xfrm>
          <a:prstGeom prst="ellipse">
            <a:avLst/>
          </a:prstGeom>
          <a:solidFill>
            <a:srgbClr val="0FB5BA">
              <a:alpha val="40000"/>
            </a:srgbClr>
          </a:solidFill>
          <a:ln w="12700">
            <a:solidFill>
              <a:srgbClr val="0FB5B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13232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0FB5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 2 — REMEDIATION LOGIC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13232" y="658368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Preference Ladder — Best Fix First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713232" y="1828800"/>
            <a:ext cx="7589520" cy="749808"/>
          </a:xfrm>
          <a:prstGeom prst="roundRect">
            <a:avLst>
              <a:gd name="adj" fmla="val 12195"/>
            </a:avLst>
          </a:prstGeom>
          <a:solidFill>
            <a:srgbClr val="172033"/>
          </a:solidFill>
          <a:ln w="12700">
            <a:solidFill>
              <a:srgbClr val="22304D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96112" y="1828800"/>
            <a:ext cx="457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A78B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1444752" y="1975104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11726"/>
          </a:solidFill>
          <a:ln w="12700">
            <a:solidFill>
              <a:srgbClr val="A78BFA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4480" y="2084832"/>
            <a:ext cx="237744" cy="23774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2084832" y="1828800"/>
            <a:ext cx="2194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Patch / Upgrade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4279392" y="1828800"/>
            <a:ext cx="3886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FCB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Root-cause fix. Usually infeasible on EOL Ubuntu 8.04 — the engine says so honestly.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713232" y="2651760"/>
            <a:ext cx="7589520" cy="749808"/>
          </a:xfrm>
          <a:prstGeom prst="roundRect">
            <a:avLst>
              <a:gd name="adj" fmla="val 12195"/>
            </a:avLst>
          </a:prstGeom>
          <a:solidFill>
            <a:srgbClr val="1E2A42"/>
          </a:solidFill>
          <a:ln w="12700">
            <a:solidFill>
              <a:srgbClr val="22304D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896112" y="2651760"/>
            <a:ext cx="457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FB5B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14" name="Shape 11"/>
          <p:cNvSpPr/>
          <p:nvPr/>
        </p:nvSpPr>
        <p:spPr>
          <a:xfrm>
            <a:off x="1444752" y="2798064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11726"/>
          </a:solidFill>
          <a:ln w="12700">
            <a:solidFill>
              <a:srgbClr val="0FB5BA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4480" y="2907792"/>
            <a:ext cx="237744" cy="237744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2084832" y="2651760"/>
            <a:ext cx="2194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Stop / Disable Service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4279392" y="2651760"/>
            <a:ext cx="3886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FCB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Preferred for backdoored or abandoned services — removes the attack surface.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713232" y="3474720"/>
            <a:ext cx="7589520" cy="749808"/>
          </a:xfrm>
          <a:prstGeom prst="roundRect">
            <a:avLst>
              <a:gd name="adj" fmla="val 12195"/>
            </a:avLst>
          </a:prstGeom>
          <a:solidFill>
            <a:srgbClr val="1E2A42"/>
          </a:solidFill>
          <a:ln w="12700">
            <a:solidFill>
              <a:srgbClr val="22304D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9" name="Text 15"/>
          <p:cNvSpPr/>
          <p:nvPr/>
        </p:nvSpPr>
        <p:spPr>
          <a:xfrm>
            <a:off x="896112" y="3474720"/>
            <a:ext cx="457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BB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20" name="Shape 16"/>
          <p:cNvSpPr/>
          <p:nvPr/>
        </p:nvSpPr>
        <p:spPr>
          <a:xfrm>
            <a:off x="1444752" y="3621024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11726"/>
          </a:solidFill>
          <a:ln w="12700">
            <a:solidFill>
              <a:srgbClr val="FBBF24"/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4480" y="3730752"/>
            <a:ext cx="237744" cy="237744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2084832" y="3474720"/>
            <a:ext cx="2194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Harden / Reconfigure</a:t>
            </a:r>
            <a:endParaRPr lang="en-US" sz="1400" dirty="0"/>
          </a:p>
        </p:txBody>
      </p:sp>
      <p:sp>
        <p:nvSpPr>
          <p:cNvPr id="23" name="Text 18"/>
          <p:cNvSpPr/>
          <p:nvPr/>
        </p:nvSpPr>
        <p:spPr>
          <a:xfrm>
            <a:off x="4279392" y="3474720"/>
            <a:ext cx="3886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FCB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Preferred when the service must stay up (e.g. SSH: disable root login, restart).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713232" y="4297680"/>
            <a:ext cx="7589520" cy="749808"/>
          </a:xfrm>
          <a:prstGeom prst="roundRect">
            <a:avLst>
              <a:gd name="adj" fmla="val 12195"/>
            </a:avLst>
          </a:prstGeom>
          <a:solidFill>
            <a:srgbClr val="172033"/>
          </a:solidFill>
          <a:ln w="12700">
            <a:solidFill>
              <a:srgbClr val="22304D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25" name="Text 20"/>
          <p:cNvSpPr/>
          <p:nvPr/>
        </p:nvSpPr>
        <p:spPr>
          <a:xfrm>
            <a:off x="896112" y="4297680"/>
            <a:ext cx="457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0B98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600" dirty="0"/>
          </a:p>
        </p:txBody>
      </p:sp>
      <p:sp>
        <p:nvSpPr>
          <p:cNvPr id="26" name="Shape 21"/>
          <p:cNvSpPr/>
          <p:nvPr/>
        </p:nvSpPr>
        <p:spPr>
          <a:xfrm>
            <a:off x="1444752" y="4443984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11726"/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54480" y="4553712"/>
            <a:ext cx="237744" cy="237744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2084832" y="4297680"/>
            <a:ext cx="2194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Network Containment</a:t>
            </a:r>
            <a:endParaRPr lang="en-US" sz="1400" dirty="0"/>
          </a:p>
        </p:txBody>
      </p:sp>
      <p:sp>
        <p:nvSpPr>
          <p:cNvPr id="29" name="Text 23"/>
          <p:cNvSpPr/>
          <p:nvPr/>
        </p:nvSpPr>
        <p:spPr>
          <a:xfrm>
            <a:off x="4279392" y="4297680"/>
            <a:ext cx="3886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FCB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Firewall DROP the port — the standing alternative on every finding.</a:t>
            </a:r>
            <a:endParaRPr lang="en-US" sz="1200" dirty="0"/>
          </a:p>
        </p:txBody>
      </p:sp>
      <p:sp>
        <p:nvSpPr>
          <p:cNvPr id="30" name="Shape 24"/>
          <p:cNvSpPr/>
          <p:nvPr/>
        </p:nvSpPr>
        <p:spPr>
          <a:xfrm>
            <a:off x="713232" y="5120640"/>
            <a:ext cx="7589520" cy="749808"/>
          </a:xfrm>
          <a:prstGeom prst="roundRect">
            <a:avLst>
              <a:gd name="adj" fmla="val 12195"/>
            </a:avLst>
          </a:prstGeom>
          <a:solidFill>
            <a:srgbClr val="172033"/>
          </a:solidFill>
          <a:ln w="12700">
            <a:solidFill>
              <a:srgbClr val="22304D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31" name="Text 25"/>
          <p:cNvSpPr/>
          <p:nvPr/>
        </p:nvSpPr>
        <p:spPr>
          <a:xfrm>
            <a:off x="896112" y="5120640"/>
            <a:ext cx="457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8696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600" dirty="0"/>
          </a:p>
        </p:txBody>
      </p:sp>
      <p:sp>
        <p:nvSpPr>
          <p:cNvPr id="32" name="Shape 26"/>
          <p:cNvSpPr/>
          <p:nvPr/>
        </p:nvSpPr>
        <p:spPr>
          <a:xfrm>
            <a:off x="1444752" y="5266944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11726"/>
          </a:solidFill>
          <a:ln w="12700">
            <a:solidFill>
              <a:srgbClr val="8696B0"/>
            </a:solidFill>
            <a:prstDash val="solid"/>
          </a:ln>
        </p:spPr>
      </p:sp>
      <p:pic>
        <p:nvPicPr>
          <p:cNvPr id="3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54480" y="5376672"/>
            <a:ext cx="237744" cy="237744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2084832" y="5120640"/>
            <a:ext cx="2194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Monitor Only</a:t>
            </a:r>
            <a:endParaRPr lang="en-US" sz="1400" dirty="0"/>
          </a:p>
        </p:txBody>
      </p:sp>
      <p:sp>
        <p:nvSpPr>
          <p:cNvPr id="35" name="Text 28"/>
          <p:cNvSpPr/>
          <p:nvPr/>
        </p:nvSpPr>
        <p:spPr>
          <a:xfrm>
            <a:off x="4279392" y="5120640"/>
            <a:ext cx="3886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FCB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and alert, no change — the explicit safe fallback.</a:t>
            </a:r>
            <a:endParaRPr lang="en-US" sz="1200" dirty="0"/>
          </a:p>
        </p:txBody>
      </p:sp>
      <p:sp>
        <p:nvSpPr>
          <p:cNvPr id="36" name="Shape 29"/>
          <p:cNvSpPr/>
          <p:nvPr/>
        </p:nvSpPr>
        <p:spPr>
          <a:xfrm>
            <a:off x="8549640" y="1828800"/>
            <a:ext cx="2926080" cy="4023360"/>
          </a:xfrm>
          <a:prstGeom prst="roundRect">
            <a:avLst>
              <a:gd name="adj" fmla="val 3125"/>
            </a:avLst>
          </a:prstGeom>
          <a:solidFill>
            <a:srgbClr val="2A1D0E"/>
          </a:solidFill>
          <a:ln w="12700">
            <a:solidFill>
              <a:srgbClr val="22304D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37" name="Shape 30"/>
          <p:cNvSpPr/>
          <p:nvPr/>
        </p:nvSpPr>
        <p:spPr>
          <a:xfrm>
            <a:off x="8796528" y="2103120"/>
            <a:ext cx="603504" cy="603504"/>
          </a:xfrm>
          <a:prstGeom prst="roundRect">
            <a:avLst>
              <a:gd name="adj" fmla="val 15152"/>
            </a:avLst>
          </a:prstGeom>
          <a:solidFill>
            <a:srgbClr val="111726"/>
          </a:solidFill>
          <a:ln w="19050">
            <a:solidFill>
              <a:srgbClr val="FBBF24"/>
            </a:solidFill>
            <a:prstDash val="solid"/>
          </a:ln>
        </p:spPr>
      </p:sp>
      <p:pic>
        <p:nvPicPr>
          <p:cNvPr id="3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24544" y="2231136"/>
            <a:ext cx="347472" cy="347472"/>
          </a:xfrm>
          <a:prstGeom prst="rect">
            <a:avLst/>
          </a:prstGeom>
        </p:spPr>
      </p:pic>
      <p:sp>
        <p:nvSpPr>
          <p:cNvPr id="39" name="Text 31"/>
          <p:cNvSpPr/>
          <p:nvPr/>
        </p:nvSpPr>
        <p:spPr>
          <a:xfrm>
            <a:off x="8778240" y="28346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BB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HARD SAFETY RULE</a:t>
            </a:r>
            <a:endParaRPr lang="en-US" sz="1400" dirty="0"/>
          </a:p>
        </p:txBody>
      </p:sp>
      <p:sp>
        <p:nvSpPr>
          <p:cNvPr id="40" name="Text 32"/>
          <p:cNvSpPr/>
          <p:nvPr/>
        </p:nvSpPr>
        <p:spPr>
          <a:xfrm>
            <a:off x="8778240" y="3200400"/>
            <a:ext cx="25146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F5E2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engine never stops or firewall-blocks port 22 — that would sever its own SSH control channel. For SSH it may only harden. Blast-radius reasoning, enforced in code.</a:t>
            </a:r>
            <a:endParaRPr lang="en-US" sz="1250" dirty="0"/>
          </a:p>
        </p:txBody>
      </p:sp>
      <p:sp>
        <p:nvSpPr>
          <p:cNvPr id="41" name="Text 33"/>
          <p:cNvSpPr/>
          <p:nvPr/>
        </p:nvSpPr>
        <p:spPr>
          <a:xfrm>
            <a:off x="457200" y="647395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69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AutoRemediate AI · DEPI Team 3</a:t>
            </a:r>
            <a:endParaRPr lang="en-US" sz="900" dirty="0"/>
          </a:p>
        </p:txBody>
      </p:sp>
      <p:sp>
        <p:nvSpPr>
          <p:cNvPr id="42" name="Text 34"/>
          <p:cNvSpPr/>
          <p:nvPr/>
        </p:nvSpPr>
        <p:spPr>
          <a:xfrm>
            <a:off x="11183112" y="647395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69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20624"/>
            <a:ext cx="146304" cy="146304"/>
          </a:xfrm>
          <a:prstGeom prst="ellipse">
            <a:avLst/>
          </a:prstGeom>
          <a:solidFill>
            <a:srgbClr val="0FB5BA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420624"/>
            <a:ext cx="146304" cy="146304"/>
          </a:xfrm>
          <a:prstGeom prst="ellipse">
            <a:avLst/>
          </a:prstGeom>
          <a:solidFill>
            <a:srgbClr val="0FB5BA">
              <a:alpha val="40000"/>
            </a:srgbClr>
          </a:solidFill>
          <a:ln w="12700">
            <a:solidFill>
              <a:srgbClr val="0FB5B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13232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0FB5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 3 — REAL EXECUTION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13232" y="658368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Approve → Execute → Verify Two Ways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713232" y="1874520"/>
            <a:ext cx="2103120" cy="2468880"/>
          </a:xfrm>
          <a:prstGeom prst="roundRect">
            <a:avLst>
              <a:gd name="adj" fmla="val 4348"/>
            </a:avLst>
          </a:prstGeom>
          <a:solidFill>
            <a:srgbClr val="172033"/>
          </a:solidFill>
          <a:ln w="12700">
            <a:solidFill>
              <a:srgbClr val="22304D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421892" y="2130552"/>
            <a:ext cx="685800" cy="685800"/>
          </a:xfrm>
          <a:prstGeom prst="roundRect">
            <a:avLst>
              <a:gd name="adj" fmla="val 16000"/>
            </a:avLst>
          </a:prstGeom>
          <a:solidFill>
            <a:srgbClr val="1E2A42"/>
          </a:solidFill>
          <a:ln w="12700">
            <a:solidFill>
              <a:srgbClr val="0FB5BA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72768" y="2286000"/>
            <a:ext cx="384048" cy="38404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22960" y="2926080"/>
            <a:ext cx="1883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Operator approves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877824" y="3355848"/>
            <a:ext cx="17739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FCB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selects an action on one finding.</a:t>
            </a:r>
            <a:endParaRPr lang="en-US" sz="11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8064" y="2743200"/>
            <a:ext cx="201168" cy="201168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2980944" y="1874520"/>
            <a:ext cx="2103120" cy="2468880"/>
          </a:xfrm>
          <a:prstGeom prst="roundRect">
            <a:avLst>
              <a:gd name="adj" fmla="val 4348"/>
            </a:avLst>
          </a:prstGeom>
          <a:solidFill>
            <a:srgbClr val="172033"/>
          </a:solidFill>
          <a:ln w="12700">
            <a:solidFill>
              <a:srgbClr val="22304D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3689604" y="2130552"/>
            <a:ext cx="685800" cy="685800"/>
          </a:xfrm>
          <a:prstGeom prst="roundRect">
            <a:avLst>
              <a:gd name="adj" fmla="val 16000"/>
            </a:avLst>
          </a:prstGeom>
          <a:solidFill>
            <a:srgbClr val="1E2A42"/>
          </a:solidFill>
          <a:ln w="12700">
            <a:solidFill>
              <a:srgbClr val="0FB5BA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0" y="2286000"/>
            <a:ext cx="384048" cy="38404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090672" y="2926080"/>
            <a:ext cx="1883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SSH executes</a:t>
            </a:r>
            <a:endParaRPr lang="en-US" sz="1350" dirty="0"/>
          </a:p>
        </p:txBody>
      </p:sp>
      <p:sp>
        <p:nvSpPr>
          <p:cNvPr id="16" name="Text 11"/>
          <p:cNvSpPr/>
          <p:nvPr/>
        </p:nvSpPr>
        <p:spPr>
          <a:xfrm>
            <a:off x="3145536" y="3355848"/>
            <a:ext cx="17739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FCB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Paramiko runs sudo -S command on the live target.</a:t>
            </a:r>
            <a:endParaRPr lang="en-US" sz="1100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65776" y="2743200"/>
            <a:ext cx="201168" cy="201168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5248656" y="1874520"/>
            <a:ext cx="2103120" cy="2468880"/>
          </a:xfrm>
          <a:prstGeom prst="roundRect">
            <a:avLst>
              <a:gd name="adj" fmla="val 4348"/>
            </a:avLst>
          </a:prstGeom>
          <a:solidFill>
            <a:srgbClr val="172033"/>
          </a:solidFill>
          <a:ln w="12700">
            <a:solidFill>
              <a:srgbClr val="22304D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5957316" y="2130552"/>
            <a:ext cx="685800" cy="685800"/>
          </a:xfrm>
          <a:prstGeom prst="roundRect">
            <a:avLst>
              <a:gd name="adj" fmla="val 16000"/>
            </a:avLst>
          </a:prstGeom>
          <a:solidFill>
            <a:srgbClr val="1E2A42"/>
          </a:solidFill>
          <a:ln w="12700">
            <a:solidFill>
              <a:srgbClr val="0FB5BA"/>
            </a:solidFill>
            <a:prstDash val="solid"/>
          </a:ln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08192" y="2286000"/>
            <a:ext cx="384048" cy="384048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5358384" y="2926080"/>
            <a:ext cx="1883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On-target check</a:t>
            </a:r>
            <a:endParaRPr lang="en-US" sz="1350" dirty="0"/>
          </a:p>
        </p:txBody>
      </p:sp>
      <p:sp>
        <p:nvSpPr>
          <p:cNvPr id="22" name="Text 15"/>
          <p:cNvSpPr/>
          <p:nvPr/>
        </p:nvSpPr>
        <p:spPr>
          <a:xfrm>
            <a:off x="5413248" y="3355848"/>
            <a:ext cx="17739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FCB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service/netstat confirms the port/service is down.</a:t>
            </a:r>
            <a:endParaRPr lang="en-US" sz="1100" dirty="0"/>
          </a:p>
        </p:txBody>
      </p:sp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33488" y="2743200"/>
            <a:ext cx="201168" cy="201168"/>
          </a:xfrm>
          <a:prstGeom prst="rect">
            <a:avLst/>
          </a:prstGeom>
        </p:spPr>
      </p:pic>
      <p:sp>
        <p:nvSpPr>
          <p:cNvPr id="24" name="Shape 16"/>
          <p:cNvSpPr/>
          <p:nvPr/>
        </p:nvSpPr>
        <p:spPr>
          <a:xfrm>
            <a:off x="7516368" y="1874520"/>
            <a:ext cx="2103120" cy="2468880"/>
          </a:xfrm>
          <a:prstGeom prst="roundRect">
            <a:avLst>
              <a:gd name="adj" fmla="val 4348"/>
            </a:avLst>
          </a:prstGeom>
          <a:solidFill>
            <a:srgbClr val="172033"/>
          </a:solidFill>
          <a:ln w="12700">
            <a:solidFill>
              <a:srgbClr val="22304D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25" name="Shape 17"/>
          <p:cNvSpPr/>
          <p:nvPr/>
        </p:nvSpPr>
        <p:spPr>
          <a:xfrm>
            <a:off x="8225028" y="2130552"/>
            <a:ext cx="685800" cy="685800"/>
          </a:xfrm>
          <a:prstGeom prst="roundRect">
            <a:avLst>
              <a:gd name="adj" fmla="val 16000"/>
            </a:avLst>
          </a:prstGeom>
          <a:solidFill>
            <a:srgbClr val="1E2A42"/>
          </a:solidFill>
          <a:ln w="12700">
            <a:solidFill>
              <a:srgbClr val="0FB5BA"/>
            </a:solidFill>
            <a:prstDash val="solid"/>
          </a:ln>
        </p:spPr>
      </p:sp>
      <p:pic>
        <p:nvPicPr>
          <p:cNvPr id="2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75904" y="2286000"/>
            <a:ext cx="384048" cy="384048"/>
          </a:xfrm>
          <a:prstGeom prst="rect">
            <a:avLst/>
          </a:prstGeom>
        </p:spPr>
      </p:pic>
      <p:sp>
        <p:nvSpPr>
          <p:cNvPr id="27" name="Text 18"/>
          <p:cNvSpPr/>
          <p:nvPr/>
        </p:nvSpPr>
        <p:spPr>
          <a:xfrm>
            <a:off x="7626096" y="2926080"/>
            <a:ext cx="1883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External check</a:t>
            </a:r>
            <a:endParaRPr lang="en-US" sz="1350" dirty="0"/>
          </a:p>
        </p:txBody>
      </p:sp>
      <p:sp>
        <p:nvSpPr>
          <p:cNvPr id="28" name="Text 19"/>
          <p:cNvSpPr/>
          <p:nvPr/>
        </p:nvSpPr>
        <p:spPr>
          <a:xfrm>
            <a:off x="7680960" y="3355848"/>
            <a:ext cx="17739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FCB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socket probe: port now refused.</a:t>
            </a:r>
            <a:endParaRPr lang="en-US" sz="1100" dirty="0"/>
          </a:p>
        </p:txBody>
      </p:sp>
      <p:pic>
        <p:nvPicPr>
          <p:cNvPr id="2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601200" y="2743200"/>
            <a:ext cx="201168" cy="201168"/>
          </a:xfrm>
          <a:prstGeom prst="rect">
            <a:avLst/>
          </a:prstGeom>
        </p:spPr>
      </p:pic>
      <p:sp>
        <p:nvSpPr>
          <p:cNvPr id="30" name="Shape 20"/>
          <p:cNvSpPr/>
          <p:nvPr/>
        </p:nvSpPr>
        <p:spPr>
          <a:xfrm>
            <a:off x="9784080" y="1874520"/>
            <a:ext cx="2103120" cy="2468880"/>
          </a:xfrm>
          <a:prstGeom prst="roundRect">
            <a:avLst>
              <a:gd name="adj" fmla="val 4348"/>
            </a:avLst>
          </a:prstGeom>
          <a:solidFill>
            <a:srgbClr val="172033"/>
          </a:solidFill>
          <a:ln w="12700">
            <a:solidFill>
              <a:srgbClr val="22304D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31" name="Shape 21"/>
          <p:cNvSpPr/>
          <p:nvPr/>
        </p:nvSpPr>
        <p:spPr>
          <a:xfrm>
            <a:off x="10492740" y="2130552"/>
            <a:ext cx="685800" cy="685800"/>
          </a:xfrm>
          <a:prstGeom prst="roundRect">
            <a:avLst>
              <a:gd name="adj" fmla="val 16000"/>
            </a:avLst>
          </a:prstGeom>
          <a:solidFill>
            <a:srgbClr val="1E2A42"/>
          </a:solidFill>
          <a:ln w="12700">
            <a:solidFill>
              <a:srgbClr val="0FB5BA"/>
            </a:solidFill>
            <a:prstDash val="solid"/>
          </a:ln>
        </p:spPr>
      </p:sp>
      <p:pic>
        <p:nvPicPr>
          <p:cNvPr id="32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643616" y="2286000"/>
            <a:ext cx="384048" cy="384048"/>
          </a:xfrm>
          <a:prstGeom prst="rect">
            <a:avLst/>
          </a:prstGeom>
        </p:spPr>
      </p:pic>
      <p:sp>
        <p:nvSpPr>
          <p:cNvPr id="33" name="Text 22"/>
          <p:cNvSpPr/>
          <p:nvPr/>
        </p:nvSpPr>
        <p:spPr>
          <a:xfrm>
            <a:off x="9893808" y="2926080"/>
            <a:ext cx="1883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Logged</a:t>
            </a:r>
            <a:endParaRPr lang="en-US" sz="1350" dirty="0"/>
          </a:p>
        </p:txBody>
      </p:sp>
      <p:sp>
        <p:nvSpPr>
          <p:cNvPr id="34" name="Text 23"/>
          <p:cNvSpPr/>
          <p:nvPr/>
        </p:nvSpPr>
        <p:spPr>
          <a:xfrm>
            <a:off x="9948672" y="3355848"/>
            <a:ext cx="17739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FCB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command + status written to Supabase.</a:t>
            </a:r>
            <a:endParaRPr lang="en-US" sz="1100" dirty="0"/>
          </a:p>
        </p:txBody>
      </p:sp>
      <p:sp>
        <p:nvSpPr>
          <p:cNvPr id="35" name="Shape 24"/>
          <p:cNvSpPr/>
          <p:nvPr/>
        </p:nvSpPr>
        <p:spPr>
          <a:xfrm>
            <a:off x="713232" y="4617720"/>
            <a:ext cx="10762488" cy="1280160"/>
          </a:xfrm>
          <a:prstGeom prst="roundRect">
            <a:avLst>
              <a:gd name="adj" fmla="val 7143"/>
            </a:avLst>
          </a:prstGeom>
          <a:solidFill>
            <a:srgbClr val="0B1220"/>
          </a:solidFill>
          <a:ln w="12700">
            <a:solidFill>
              <a:srgbClr val="22304D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36" name="Text 25"/>
          <p:cNvSpPr/>
          <p:nvPr/>
        </p:nvSpPr>
        <p:spPr>
          <a:xfrm>
            <a:off x="914400" y="480060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B5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PROOF</a:t>
            </a:r>
            <a:endParaRPr lang="en-US" sz="1100" dirty="0"/>
          </a:p>
        </p:txBody>
      </p:sp>
      <p:sp>
        <p:nvSpPr>
          <p:cNvPr id="37" name="Text 26"/>
          <p:cNvSpPr/>
          <p:nvPr/>
        </p:nvSpPr>
        <p:spPr>
          <a:xfrm>
            <a:off x="2103120" y="4828032"/>
            <a:ext cx="9144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FCB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Before:  </a:t>
            </a:r>
            <a:pPr indent="0" marL="0">
              <a:buNone/>
            </a:pPr>
            <a:r>
              <a:rPr lang="en-US" sz="1250" dirty="0">
                <a:solidFill>
                  <a:srgbClr val="F43F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Test-NetConnection 6667  →  TcpTestSucceeded : True</a:t>
            </a:r>
            <a:endParaRPr lang="en-US" sz="1250" dirty="0"/>
          </a:p>
        </p:txBody>
      </p:sp>
      <p:sp>
        <p:nvSpPr>
          <p:cNvPr id="38" name="Text 27"/>
          <p:cNvSpPr/>
          <p:nvPr/>
        </p:nvSpPr>
        <p:spPr>
          <a:xfrm>
            <a:off x="2103120" y="5285232"/>
            <a:ext cx="9144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FCB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After:    </a:t>
            </a:r>
            <a:pPr indent="0" marL="0">
              <a:buNone/>
            </a:pPr>
            <a:r>
              <a:rPr lang="en-US" sz="125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Test-NetConnection 6667  →  TcpTestSucceeded : False</a:t>
            </a:r>
            <a:endParaRPr lang="en-US" sz="1250" dirty="0"/>
          </a:p>
        </p:txBody>
      </p:sp>
      <p:sp>
        <p:nvSpPr>
          <p:cNvPr id="39" name="Text 28"/>
          <p:cNvSpPr/>
          <p:nvPr/>
        </p:nvSpPr>
        <p:spPr>
          <a:xfrm>
            <a:off x="457200" y="647395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69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AutoRemediate AI · DEPI Team 3</a:t>
            </a:r>
            <a:endParaRPr lang="en-US" sz="900" dirty="0"/>
          </a:p>
        </p:txBody>
      </p:sp>
      <p:sp>
        <p:nvSpPr>
          <p:cNvPr id="40" name="Text 29"/>
          <p:cNvSpPr/>
          <p:nvPr/>
        </p:nvSpPr>
        <p:spPr>
          <a:xfrm>
            <a:off x="11183112" y="647395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69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20624"/>
            <a:ext cx="146304" cy="146304"/>
          </a:xfrm>
          <a:prstGeom prst="ellipse">
            <a:avLst/>
          </a:prstGeom>
          <a:solidFill>
            <a:srgbClr val="0FB5BA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420624"/>
            <a:ext cx="146304" cy="146304"/>
          </a:xfrm>
          <a:prstGeom prst="ellipse">
            <a:avLst/>
          </a:prstGeom>
          <a:solidFill>
            <a:srgbClr val="0FB5BA">
              <a:alpha val="40000"/>
            </a:srgbClr>
          </a:solidFill>
          <a:ln w="12700">
            <a:solidFill>
              <a:srgbClr val="0FB5B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13232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0FB5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13232" y="658368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Relational Schema — Two Linked Tables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713232" y="1828800"/>
            <a:ext cx="4206240" cy="2852928"/>
          </a:xfrm>
          <a:prstGeom prst="roundRect">
            <a:avLst>
              <a:gd name="adj" fmla="val 3205"/>
            </a:avLst>
          </a:prstGeom>
          <a:solidFill>
            <a:srgbClr val="172033"/>
          </a:solidFill>
          <a:ln w="12700">
            <a:solidFill>
              <a:srgbClr val="22304D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13232" y="1828800"/>
            <a:ext cx="4206240" cy="566928"/>
          </a:xfrm>
          <a:prstGeom prst="roundRect">
            <a:avLst>
              <a:gd name="adj" fmla="val 16129"/>
            </a:avLst>
          </a:prstGeom>
          <a:solidFill>
            <a:srgbClr val="0FB5B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975104"/>
            <a:ext cx="274320" cy="2743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80160" y="1828800"/>
            <a:ext cx="3474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12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Vulnerabilities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987552" y="246888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vuln_id</a:t>
            </a:r>
            <a:pPr indent="0" marL="0">
              <a:buNone/>
            </a:pPr>
            <a:r>
              <a:rPr lang="en-US" sz="1150" dirty="0">
                <a:solidFill>
                  <a:srgbClr val="BFCB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SERIAL  PK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987552" y="2889504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cve_reference</a:t>
            </a:r>
            <a:pPr indent="0" marL="0">
              <a:buNone/>
            </a:pPr>
            <a:r>
              <a:rPr lang="en-US" sz="1150" dirty="0">
                <a:solidFill>
                  <a:srgbClr val="BFCB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TEXT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987552" y="3310128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plugin_name</a:t>
            </a:r>
            <a:pPr indent="0" marL="0">
              <a:buNone/>
            </a:pPr>
            <a:r>
              <a:rPr lang="en-US" sz="1150" dirty="0">
                <a:solidFill>
                  <a:srgbClr val="BFCB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TEXT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987552" y="3730752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severity_level</a:t>
            </a:r>
            <a:pPr indent="0" marL="0">
              <a:buNone/>
            </a:pPr>
            <a:r>
              <a:rPr lang="en-US" sz="1150" dirty="0">
                <a:solidFill>
                  <a:srgbClr val="BFCB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TEXT  CHECK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987552" y="4151376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target_port</a:t>
            </a:r>
            <a:pPr indent="0" marL="0">
              <a:buNone/>
            </a:pPr>
            <a:r>
              <a:rPr lang="en-US" sz="1150" dirty="0">
                <a:solidFill>
                  <a:srgbClr val="BFCB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INTEGER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7269480" y="1828800"/>
            <a:ext cx="4206240" cy="3273552"/>
          </a:xfrm>
          <a:prstGeom prst="roundRect">
            <a:avLst>
              <a:gd name="adj" fmla="val 2793"/>
            </a:avLst>
          </a:prstGeom>
          <a:solidFill>
            <a:srgbClr val="172033"/>
          </a:solidFill>
          <a:ln w="12700">
            <a:solidFill>
              <a:srgbClr val="22304D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7269480" y="1828800"/>
            <a:ext cx="4206240" cy="566928"/>
          </a:xfrm>
          <a:prstGeom prst="roundRect">
            <a:avLst>
              <a:gd name="adj" fmla="val 16129"/>
            </a:avLst>
          </a:prstGeom>
          <a:solidFill>
            <a:srgbClr val="A78BFA"/>
          </a:solidFill>
          <a:ln/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70648" y="1975104"/>
            <a:ext cx="274320" cy="27432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7836408" y="1828800"/>
            <a:ext cx="3474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12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Remediation_Activity_Logs</a:t>
            </a:r>
            <a:endParaRPr lang="en-US" sz="1300" dirty="0"/>
          </a:p>
        </p:txBody>
      </p:sp>
      <p:sp>
        <p:nvSpPr>
          <p:cNvPr id="19" name="Text 15"/>
          <p:cNvSpPr/>
          <p:nvPr/>
        </p:nvSpPr>
        <p:spPr>
          <a:xfrm>
            <a:off x="7543800" y="246888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log_id</a:t>
            </a:r>
            <a:pPr indent="0" marL="0">
              <a:buNone/>
            </a:pPr>
            <a:r>
              <a:rPr lang="en-US" sz="1150" dirty="0">
                <a:solidFill>
                  <a:srgbClr val="BFCB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SERIAL  PK</a:t>
            </a:r>
            <a:endParaRPr lang="en-US" sz="1150" dirty="0"/>
          </a:p>
        </p:txBody>
      </p:sp>
      <p:sp>
        <p:nvSpPr>
          <p:cNvPr id="20" name="Text 16"/>
          <p:cNvSpPr/>
          <p:nvPr/>
        </p:nvSpPr>
        <p:spPr>
          <a:xfrm>
            <a:off x="7543800" y="2889504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vuln_id</a:t>
            </a:r>
            <a:pPr indent="0" marL="0">
              <a:buNone/>
            </a:pPr>
            <a:r>
              <a:rPr lang="en-US" sz="1150" dirty="0">
                <a:solidFill>
                  <a:srgbClr val="BFCB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INTEGER  FK</a:t>
            </a:r>
            <a:endParaRPr lang="en-US" sz="1150" dirty="0"/>
          </a:p>
        </p:txBody>
      </p:sp>
      <p:sp>
        <p:nvSpPr>
          <p:cNvPr id="21" name="Text 17"/>
          <p:cNvSpPr/>
          <p:nvPr/>
        </p:nvSpPr>
        <p:spPr>
          <a:xfrm>
            <a:off x="7543800" y="3310128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timestamp</a:t>
            </a:r>
            <a:pPr indent="0" marL="0">
              <a:buNone/>
            </a:pPr>
            <a:r>
              <a:rPr lang="en-US" sz="1150" dirty="0">
                <a:solidFill>
                  <a:srgbClr val="BFCB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TIMESTAMPTZ</a:t>
            </a:r>
            <a:endParaRPr lang="en-US" sz="1150" dirty="0"/>
          </a:p>
        </p:txBody>
      </p:sp>
      <p:sp>
        <p:nvSpPr>
          <p:cNvPr id="22" name="Text 18"/>
          <p:cNvSpPr/>
          <p:nvPr/>
        </p:nvSpPr>
        <p:spPr>
          <a:xfrm>
            <a:off x="7543800" y="3730752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command_dispatched</a:t>
            </a:r>
            <a:pPr indent="0" marL="0">
              <a:buNone/>
            </a:pPr>
            <a:r>
              <a:rPr lang="en-US" sz="1150" dirty="0">
                <a:solidFill>
                  <a:srgbClr val="BFCB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TEXT</a:t>
            </a:r>
            <a:endParaRPr lang="en-US" sz="1150" dirty="0"/>
          </a:p>
        </p:txBody>
      </p:sp>
      <p:sp>
        <p:nvSpPr>
          <p:cNvPr id="23" name="Text 19"/>
          <p:cNvSpPr/>
          <p:nvPr/>
        </p:nvSpPr>
        <p:spPr>
          <a:xfrm>
            <a:off x="7543800" y="4151376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operator_decision</a:t>
            </a:r>
            <a:pPr indent="0" marL="0">
              <a:buNone/>
            </a:pPr>
            <a:r>
              <a:rPr lang="en-US" sz="1150" dirty="0">
                <a:solidFill>
                  <a:srgbClr val="BFCB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TEXT</a:t>
            </a:r>
            <a:endParaRPr lang="en-US" sz="1150" dirty="0"/>
          </a:p>
        </p:txBody>
      </p:sp>
      <p:sp>
        <p:nvSpPr>
          <p:cNvPr id="24" name="Text 20"/>
          <p:cNvSpPr/>
          <p:nvPr/>
        </p:nvSpPr>
        <p:spPr>
          <a:xfrm>
            <a:off x="7543800" y="457200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execution_status</a:t>
            </a:r>
            <a:pPr indent="0" marL="0">
              <a:buNone/>
            </a:pPr>
            <a:r>
              <a:rPr lang="en-US" sz="1150" dirty="0">
                <a:solidFill>
                  <a:srgbClr val="BFCB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TEXT  CHECK</a:t>
            </a:r>
            <a:endParaRPr lang="en-US" sz="1150" dirty="0"/>
          </a:p>
        </p:txBody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640" y="2834640"/>
            <a:ext cx="548640" cy="548640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4800600" y="33832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FCB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→  many</a:t>
            </a:r>
            <a:endParaRPr lang="en-US" sz="1100" dirty="0"/>
          </a:p>
        </p:txBody>
      </p:sp>
      <p:sp>
        <p:nvSpPr>
          <p:cNvPr id="27" name="Shape 22"/>
          <p:cNvSpPr/>
          <p:nvPr/>
        </p:nvSpPr>
        <p:spPr>
          <a:xfrm>
            <a:off x="713232" y="5257800"/>
            <a:ext cx="10762488" cy="868680"/>
          </a:xfrm>
          <a:prstGeom prst="roundRect">
            <a:avLst>
              <a:gd name="adj" fmla="val 10526"/>
            </a:avLst>
          </a:prstGeom>
          <a:solidFill>
            <a:srgbClr val="111726"/>
          </a:solidFill>
          <a:ln w="12700">
            <a:solidFill>
              <a:srgbClr val="22304D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5440680"/>
            <a:ext cx="457200" cy="457200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1508760" y="5257800"/>
            <a:ext cx="9784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FCB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in Supabase (cloud Postgres). The engine creates the tables itself via the connection string — every remediation writes a real, queryable row that drives the dashboard.</a:t>
            </a:r>
            <a:endParaRPr lang="en-US" sz="1250" dirty="0"/>
          </a:p>
        </p:txBody>
      </p:sp>
      <p:sp>
        <p:nvSpPr>
          <p:cNvPr id="30" name="Text 24"/>
          <p:cNvSpPr/>
          <p:nvPr/>
        </p:nvSpPr>
        <p:spPr>
          <a:xfrm>
            <a:off x="457200" y="647395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69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AutoRemediate AI · DEPI Team 3</a:t>
            </a:r>
            <a:endParaRPr lang="en-US" sz="900" dirty="0"/>
          </a:p>
        </p:txBody>
      </p:sp>
      <p:sp>
        <p:nvSpPr>
          <p:cNvPr id="31" name="Text 25"/>
          <p:cNvSpPr/>
          <p:nvPr/>
        </p:nvSpPr>
        <p:spPr>
          <a:xfrm>
            <a:off x="11183112" y="647395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69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20624"/>
            <a:ext cx="146304" cy="146304"/>
          </a:xfrm>
          <a:prstGeom prst="ellipse">
            <a:avLst/>
          </a:prstGeom>
          <a:solidFill>
            <a:srgbClr val="0FB5BA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420624"/>
            <a:ext cx="146304" cy="146304"/>
          </a:xfrm>
          <a:prstGeom prst="ellipse">
            <a:avLst/>
          </a:prstGeom>
          <a:solidFill>
            <a:srgbClr val="0FB5BA">
              <a:alpha val="40000"/>
            </a:srgbClr>
          </a:solidFill>
          <a:ln w="12700">
            <a:solidFill>
              <a:srgbClr val="0FB5B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13232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0FB5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CONSOLE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13232" y="658368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Drive Everything From the Browser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713232" y="1783080"/>
            <a:ext cx="6766560" cy="4114800"/>
          </a:xfrm>
          <a:prstGeom prst="roundRect">
            <a:avLst>
              <a:gd name="adj" fmla="val 2222"/>
            </a:avLst>
          </a:prstGeom>
          <a:solidFill>
            <a:srgbClr val="0B1220"/>
          </a:solidFill>
          <a:ln w="12700">
            <a:solidFill>
              <a:srgbClr val="22304D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13232" y="1783080"/>
            <a:ext cx="6766560" cy="457200"/>
          </a:xfrm>
          <a:prstGeom prst="roundRect">
            <a:avLst>
              <a:gd name="adj" fmla="val 20000"/>
            </a:avLst>
          </a:prstGeom>
          <a:solidFill>
            <a:srgbClr val="060B14"/>
          </a:solidFill>
          <a:ln/>
        </p:spPr>
      </p:sp>
      <p:sp>
        <p:nvSpPr>
          <p:cNvPr id="8" name="Shape 6"/>
          <p:cNvSpPr/>
          <p:nvPr/>
        </p:nvSpPr>
        <p:spPr>
          <a:xfrm>
            <a:off x="914400" y="1947672"/>
            <a:ext cx="146304" cy="146304"/>
          </a:xfrm>
          <a:prstGeom prst="ellipse">
            <a:avLst/>
          </a:prstGeom>
          <a:solidFill>
            <a:srgbClr val="F43F5E"/>
          </a:solidFill>
          <a:ln/>
        </p:spPr>
      </p:sp>
      <p:sp>
        <p:nvSpPr>
          <p:cNvPr id="9" name="Shape 7"/>
          <p:cNvSpPr/>
          <p:nvPr/>
        </p:nvSpPr>
        <p:spPr>
          <a:xfrm>
            <a:off x="1170432" y="1947672"/>
            <a:ext cx="146304" cy="146304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10" name="Shape 8"/>
          <p:cNvSpPr/>
          <p:nvPr/>
        </p:nvSpPr>
        <p:spPr>
          <a:xfrm>
            <a:off x="1426464" y="1947672"/>
            <a:ext cx="146304" cy="146304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1" name="Text 9"/>
          <p:cNvSpPr/>
          <p:nvPr/>
        </p:nvSpPr>
        <p:spPr>
          <a:xfrm>
            <a:off x="1920240" y="17830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FCB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127.0.0.1:5000  ·  AutoRemediate AI Console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960120" y="2468880"/>
            <a:ext cx="1920240" cy="914400"/>
          </a:xfrm>
          <a:prstGeom prst="roundRect">
            <a:avLst>
              <a:gd name="adj" fmla="val 8000"/>
            </a:avLst>
          </a:prstGeom>
          <a:solidFill>
            <a:srgbClr val="172033"/>
          </a:solidFill>
          <a:ln w="12700">
            <a:solidFill>
              <a:srgbClr val="22304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0120" y="2542032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FB5B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43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960120" y="3072384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FCB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108960" y="2468880"/>
            <a:ext cx="1920240" cy="914400"/>
          </a:xfrm>
          <a:prstGeom prst="roundRect">
            <a:avLst>
              <a:gd name="adj" fmla="val 8000"/>
            </a:avLst>
          </a:prstGeom>
          <a:solidFill>
            <a:srgbClr val="172033"/>
          </a:solidFill>
          <a:ln w="12700">
            <a:solidFill>
              <a:srgbClr val="22304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108960" y="2542032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43F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3108960" y="3072384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FCB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Crit/High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257800" y="2468880"/>
            <a:ext cx="1920240" cy="914400"/>
          </a:xfrm>
          <a:prstGeom prst="roundRect">
            <a:avLst>
              <a:gd name="adj" fmla="val 8000"/>
            </a:avLst>
          </a:prstGeom>
          <a:solidFill>
            <a:srgbClr val="172033"/>
          </a:solidFill>
          <a:ln w="12700">
            <a:solidFill>
              <a:srgbClr val="22304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257800" y="2542032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0B98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5257800" y="3072384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FCB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Remediated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960120" y="3611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FB5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REMEDIATION ACTIVITY LOG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960120" y="3931920"/>
            <a:ext cx="6263640" cy="420624"/>
          </a:xfrm>
          <a:prstGeom prst="roundRect">
            <a:avLst>
              <a:gd name="adj" fmla="val 10870"/>
            </a:avLst>
          </a:prstGeom>
          <a:solidFill>
            <a:srgbClr val="172033"/>
          </a:solidFill>
          <a:ln w="6350">
            <a:solidFill>
              <a:srgbClr val="22304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97280" y="3931920"/>
            <a:ext cx="4114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14:21 UnrealIRCd 6667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669280" y="4005072"/>
            <a:ext cx="1371600" cy="274320"/>
          </a:xfrm>
          <a:prstGeom prst="roundRect">
            <a:avLst>
              <a:gd name="adj" fmla="val 50000"/>
            </a:avLst>
          </a:prstGeom>
          <a:solidFill>
            <a:srgbClr val="111726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69280" y="400507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960120" y="4434840"/>
            <a:ext cx="6263640" cy="420624"/>
          </a:xfrm>
          <a:prstGeom prst="roundRect">
            <a:avLst>
              <a:gd name="adj" fmla="val 10870"/>
            </a:avLst>
          </a:prstGeom>
          <a:solidFill>
            <a:srgbClr val="172033"/>
          </a:solidFill>
          <a:ln w="6350">
            <a:solidFill>
              <a:srgbClr val="22304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97280" y="4434840"/>
            <a:ext cx="4114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14:20 Bind Shell 1524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669280" y="4507992"/>
            <a:ext cx="1371600" cy="274320"/>
          </a:xfrm>
          <a:prstGeom prst="roundRect">
            <a:avLst>
              <a:gd name="adj" fmla="val 50000"/>
            </a:avLst>
          </a:prstGeom>
          <a:solidFill>
            <a:srgbClr val="111726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69280" y="45079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960120" y="4937760"/>
            <a:ext cx="6263640" cy="420624"/>
          </a:xfrm>
          <a:prstGeom prst="roundRect">
            <a:avLst>
              <a:gd name="adj" fmla="val 10870"/>
            </a:avLst>
          </a:prstGeom>
          <a:solidFill>
            <a:srgbClr val="172033"/>
          </a:solidFill>
          <a:ln w="6350">
            <a:solidFill>
              <a:srgbClr val="22304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97280" y="4937760"/>
            <a:ext cx="4114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14:19 SMTP 25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669280" y="5010912"/>
            <a:ext cx="1371600" cy="274320"/>
          </a:xfrm>
          <a:prstGeom prst="roundRect">
            <a:avLst>
              <a:gd name="adj" fmla="val 50000"/>
            </a:avLst>
          </a:prstGeom>
          <a:solidFill>
            <a:srgbClr val="111726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669280" y="501091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Skipped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7726680" y="1783080"/>
            <a:ext cx="3749040" cy="914400"/>
          </a:xfrm>
          <a:prstGeom prst="roundRect">
            <a:avLst>
              <a:gd name="adj" fmla="val 10000"/>
            </a:avLst>
          </a:prstGeom>
          <a:solidFill>
            <a:srgbClr val="172033"/>
          </a:solidFill>
          <a:ln w="12700">
            <a:solidFill>
              <a:srgbClr val="22304D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7909560" y="1965960"/>
            <a:ext cx="548640" cy="548640"/>
          </a:xfrm>
          <a:prstGeom prst="roundRect">
            <a:avLst>
              <a:gd name="adj" fmla="val 15000"/>
            </a:avLst>
          </a:prstGeom>
          <a:solidFill>
            <a:srgbClr val="1E2A42"/>
          </a:solidFill>
          <a:ln w="12700">
            <a:solidFill>
              <a:srgbClr val="0FB5BA"/>
            </a:solidFill>
            <a:prstDash val="solid"/>
          </a:ln>
        </p:spPr>
      </p:sp>
      <p:pic>
        <p:nvPicPr>
          <p:cNvPr id="3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8432" y="2084832"/>
            <a:ext cx="310896" cy="310896"/>
          </a:xfrm>
          <a:prstGeom prst="rect">
            <a:avLst/>
          </a:prstGeom>
        </p:spPr>
      </p:pic>
      <p:sp>
        <p:nvSpPr>
          <p:cNvPr id="37" name="Text 34"/>
          <p:cNvSpPr/>
          <p:nvPr/>
        </p:nvSpPr>
        <p:spPr>
          <a:xfrm>
            <a:off x="8595360" y="189280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Per-finding approval buttons</a:t>
            </a:r>
            <a:endParaRPr lang="en-US" sz="1250" dirty="0"/>
          </a:p>
        </p:txBody>
      </p:sp>
      <p:sp>
        <p:nvSpPr>
          <p:cNvPr id="38" name="Text 35"/>
          <p:cNvSpPr/>
          <p:nvPr/>
        </p:nvSpPr>
        <p:spPr>
          <a:xfrm>
            <a:off x="8595360" y="224028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BFCB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/ alternative / skip — one click, one action. No 'run all'.</a:t>
            </a:r>
            <a:endParaRPr lang="en-US" sz="1050" dirty="0"/>
          </a:p>
        </p:txBody>
      </p:sp>
      <p:sp>
        <p:nvSpPr>
          <p:cNvPr id="39" name="Shape 36"/>
          <p:cNvSpPr/>
          <p:nvPr/>
        </p:nvSpPr>
        <p:spPr>
          <a:xfrm>
            <a:off x="7726680" y="2816352"/>
            <a:ext cx="3749040" cy="914400"/>
          </a:xfrm>
          <a:prstGeom prst="roundRect">
            <a:avLst>
              <a:gd name="adj" fmla="val 10000"/>
            </a:avLst>
          </a:prstGeom>
          <a:solidFill>
            <a:srgbClr val="172033"/>
          </a:solidFill>
          <a:ln w="12700">
            <a:solidFill>
              <a:srgbClr val="22304D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40" name="Shape 37"/>
          <p:cNvSpPr/>
          <p:nvPr/>
        </p:nvSpPr>
        <p:spPr>
          <a:xfrm>
            <a:off x="7909560" y="2999232"/>
            <a:ext cx="548640" cy="548640"/>
          </a:xfrm>
          <a:prstGeom prst="roundRect">
            <a:avLst>
              <a:gd name="adj" fmla="val 15000"/>
            </a:avLst>
          </a:prstGeom>
          <a:solidFill>
            <a:srgbClr val="1E2A42"/>
          </a:solidFill>
          <a:ln w="12700">
            <a:solidFill>
              <a:srgbClr val="0FB5BA"/>
            </a:solidFill>
            <a:prstDash val="solid"/>
          </a:ln>
        </p:spPr>
      </p:sp>
      <p:pic>
        <p:nvPicPr>
          <p:cNvPr id="4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8432" y="3118104"/>
            <a:ext cx="310896" cy="310896"/>
          </a:xfrm>
          <a:prstGeom prst="rect">
            <a:avLst/>
          </a:prstGeom>
        </p:spPr>
      </p:pic>
      <p:sp>
        <p:nvSpPr>
          <p:cNvPr id="42" name="Text 38"/>
          <p:cNvSpPr/>
          <p:nvPr/>
        </p:nvSpPr>
        <p:spPr>
          <a:xfrm>
            <a:off x="8595360" y="29260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Animated live visualizations</a:t>
            </a:r>
            <a:endParaRPr lang="en-US" sz="1250" dirty="0"/>
          </a:p>
        </p:txBody>
      </p:sp>
      <p:sp>
        <p:nvSpPr>
          <p:cNvPr id="43" name="Text 39"/>
          <p:cNvSpPr/>
          <p:nvPr/>
        </p:nvSpPr>
        <p:spPr>
          <a:xfrm>
            <a:off x="8595360" y="3273552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BFCB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 donut, counters, posture ring update after each action.</a:t>
            </a:r>
            <a:endParaRPr lang="en-US" sz="1050" dirty="0"/>
          </a:p>
        </p:txBody>
      </p:sp>
      <p:sp>
        <p:nvSpPr>
          <p:cNvPr id="44" name="Shape 40"/>
          <p:cNvSpPr/>
          <p:nvPr/>
        </p:nvSpPr>
        <p:spPr>
          <a:xfrm>
            <a:off x="7726680" y="3849624"/>
            <a:ext cx="3749040" cy="914400"/>
          </a:xfrm>
          <a:prstGeom prst="roundRect">
            <a:avLst>
              <a:gd name="adj" fmla="val 10000"/>
            </a:avLst>
          </a:prstGeom>
          <a:solidFill>
            <a:srgbClr val="172033"/>
          </a:solidFill>
          <a:ln w="12700">
            <a:solidFill>
              <a:srgbClr val="22304D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45" name="Shape 41"/>
          <p:cNvSpPr/>
          <p:nvPr/>
        </p:nvSpPr>
        <p:spPr>
          <a:xfrm>
            <a:off x="7909560" y="4032504"/>
            <a:ext cx="548640" cy="548640"/>
          </a:xfrm>
          <a:prstGeom prst="roundRect">
            <a:avLst>
              <a:gd name="adj" fmla="val 15000"/>
            </a:avLst>
          </a:prstGeom>
          <a:solidFill>
            <a:srgbClr val="1E2A42"/>
          </a:solidFill>
          <a:ln w="12700">
            <a:solidFill>
              <a:srgbClr val="0FB5BA"/>
            </a:solidFill>
            <a:prstDash val="solid"/>
          </a:ln>
        </p:spPr>
      </p:sp>
      <p:pic>
        <p:nvPicPr>
          <p:cNvPr id="4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8432" y="4151376"/>
            <a:ext cx="310896" cy="310896"/>
          </a:xfrm>
          <a:prstGeom prst="rect">
            <a:avLst/>
          </a:prstGeom>
        </p:spPr>
      </p:pic>
      <p:sp>
        <p:nvSpPr>
          <p:cNvPr id="47" name="Text 42"/>
          <p:cNvSpPr/>
          <p:nvPr/>
        </p:nvSpPr>
        <p:spPr>
          <a:xfrm>
            <a:off x="8595360" y="395935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Real-time activity timeline</a:t>
            </a:r>
            <a:endParaRPr lang="en-US" sz="1250" dirty="0"/>
          </a:p>
        </p:txBody>
      </p:sp>
      <p:sp>
        <p:nvSpPr>
          <p:cNvPr id="48" name="Text 43"/>
          <p:cNvSpPr/>
          <p:nvPr/>
        </p:nvSpPr>
        <p:spPr>
          <a:xfrm>
            <a:off x="8595360" y="4306824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BFCB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verified actions slide in with status badges.</a:t>
            </a:r>
            <a:endParaRPr lang="en-US" sz="1050" dirty="0"/>
          </a:p>
        </p:txBody>
      </p:sp>
      <p:sp>
        <p:nvSpPr>
          <p:cNvPr id="49" name="Shape 44"/>
          <p:cNvSpPr/>
          <p:nvPr/>
        </p:nvSpPr>
        <p:spPr>
          <a:xfrm>
            <a:off x="7726680" y="4882896"/>
            <a:ext cx="3749040" cy="914400"/>
          </a:xfrm>
          <a:prstGeom prst="roundRect">
            <a:avLst>
              <a:gd name="adj" fmla="val 10000"/>
            </a:avLst>
          </a:prstGeom>
          <a:solidFill>
            <a:srgbClr val="172033"/>
          </a:solidFill>
          <a:ln w="12700">
            <a:solidFill>
              <a:srgbClr val="22304D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50" name="Shape 45"/>
          <p:cNvSpPr/>
          <p:nvPr/>
        </p:nvSpPr>
        <p:spPr>
          <a:xfrm>
            <a:off x="7909560" y="5065776"/>
            <a:ext cx="548640" cy="548640"/>
          </a:xfrm>
          <a:prstGeom prst="roundRect">
            <a:avLst>
              <a:gd name="adj" fmla="val 15000"/>
            </a:avLst>
          </a:prstGeom>
          <a:solidFill>
            <a:srgbClr val="1E2A42"/>
          </a:solidFill>
          <a:ln w="12700">
            <a:solidFill>
              <a:srgbClr val="0FB5BA"/>
            </a:solidFill>
            <a:prstDash val="solid"/>
          </a:ln>
        </p:spPr>
      </p:sp>
      <p:pic>
        <p:nvPicPr>
          <p:cNvPr id="5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8432" y="5184648"/>
            <a:ext cx="310896" cy="310896"/>
          </a:xfrm>
          <a:prstGeom prst="rect">
            <a:avLst/>
          </a:prstGeom>
        </p:spPr>
      </p:pic>
      <p:sp>
        <p:nvSpPr>
          <p:cNvPr id="52" name="Text 46"/>
          <p:cNvSpPr/>
          <p:nvPr/>
        </p:nvSpPr>
        <p:spPr>
          <a:xfrm>
            <a:off x="8595360" y="4992624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Secrets stay server-side</a:t>
            </a:r>
            <a:endParaRPr lang="en-US" sz="1250" dirty="0"/>
          </a:p>
        </p:txBody>
      </p:sp>
      <p:sp>
        <p:nvSpPr>
          <p:cNvPr id="53" name="Text 47"/>
          <p:cNvSpPr/>
          <p:nvPr/>
        </p:nvSpPr>
        <p:spPr>
          <a:xfrm>
            <a:off x="8595360" y="5340096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BFCB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backend reuses the proven engine; CLI remains a fallback.</a:t>
            </a:r>
            <a:endParaRPr lang="en-US" sz="1050" dirty="0"/>
          </a:p>
        </p:txBody>
      </p:sp>
      <p:sp>
        <p:nvSpPr>
          <p:cNvPr id="54" name="Text 48"/>
          <p:cNvSpPr/>
          <p:nvPr/>
        </p:nvSpPr>
        <p:spPr>
          <a:xfrm>
            <a:off x="457200" y="647395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69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AutoRemediate AI · DEPI Team 3</a:t>
            </a:r>
            <a:endParaRPr lang="en-US" sz="900" dirty="0"/>
          </a:p>
        </p:txBody>
      </p:sp>
      <p:sp>
        <p:nvSpPr>
          <p:cNvPr id="55" name="Text 49"/>
          <p:cNvSpPr/>
          <p:nvPr/>
        </p:nvSpPr>
        <p:spPr>
          <a:xfrm>
            <a:off x="11183112" y="647395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69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20624"/>
            <a:ext cx="146304" cy="146304"/>
          </a:xfrm>
          <a:prstGeom prst="ellipse">
            <a:avLst/>
          </a:prstGeom>
          <a:solidFill>
            <a:srgbClr val="0FB5BA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420624"/>
            <a:ext cx="146304" cy="146304"/>
          </a:xfrm>
          <a:prstGeom prst="ellipse">
            <a:avLst/>
          </a:prstGeom>
          <a:solidFill>
            <a:srgbClr val="0FB5BA">
              <a:alpha val="40000"/>
            </a:srgbClr>
          </a:solidFill>
          <a:ln w="12700">
            <a:solidFill>
              <a:srgbClr val="0FB5B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13232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0FB5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DEPTH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13232" y="658368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 Problems Solved — Not a Toy Demo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713232" y="1783080"/>
            <a:ext cx="5303520" cy="1783080"/>
          </a:xfrm>
          <a:prstGeom prst="roundRect">
            <a:avLst>
              <a:gd name="adj" fmla="val 5128"/>
            </a:avLst>
          </a:prstGeom>
          <a:solidFill>
            <a:srgbClr val="172033"/>
          </a:solidFill>
          <a:ln w="12700">
            <a:solidFill>
              <a:srgbClr val="22304D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69264" y="2057400"/>
            <a:ext cx="640080" cy="640080"/>
          </a:xfrm>
          <a:prstGeom prst="roundRect">
            <a:avLst>
              <a:gd name="adj" fmla="val 14286"/>
            </a:avLst>
          </a:prstGeom>
          <a:solidFill>
            <a:srgbClr val="1E2A42"/>
          </a:solidFill>
          <a:ln w="12700">
            <a:solidFill>
              <a:srgbClr val="0FB5BA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6424" y="2194560"/>
            <a:ext cx="365760" cy="3657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19072" y="2039112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Legacy SSH handshake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987552" y="2697480"/>
            <a:ext cx="4800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BFCB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Metasploitable2's OpenSSH 4.7 offers only ssh-rsa/SHA-1, which modern Paramiko rejects. We re-enabled the legacy algorithms for that one target.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6336792" y="1783080"/>
            <a:ext cx="5303520" cy="1783080"/>
          </a:xfrm>
          <a:prstGeom prst="roundRect">
            <a:avLst>
              <a:gd name="adj" fmla="val 5128"/>
            </a:avLst>
          </a:prstGeom>
          <a:solidFill>
            <a:srgbClr val="172033"/>
          </a:solidFill>
          <a:ln w="12700">
            <a:solidFill>
              <a:srgbClr val="22304D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592824" y="2057400"/>
            <a:ext cx="640080" cy="640080"/>
          </a:xfrm>
          <a:prstGeom prst="roundRect">
            <a:avLst>
              <a:gd name="adj" fmla="val 14286"/>
            </a:avLst>
          </a:prstGeom>
          <a:solidFill>
            <a:srgbClr val="1E2A42"/>
          </a:solidFill>
          <a:ln w="12700">
            <a:solidFill>
              <a:srgbClr val="0FB5BA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9984" y="2194560"/>
            <a:ext cx="365760" cy="3657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342632" y="2039112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sudo-over-SSH hang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6611112" y="2697480"/>
            <a:ext cx="4800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BFCB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sudo blocked forever on a non-TTY channel. Fixed with sudo -S feeding the password via stdin, plus hard command timeouts so nothing can hang.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713232" y="3858768"/>
            <a:ext cx="5303520" cy="1783080"/>
          </a:xfrm>
          <a:prstGeom prst="roundRect">
            <a:avLst>
              <a:gd name="adj" fmla="val 5128"/>
            </a:avLst>
          </a:prstGeom>
          <a:solidFill>
            <a:srgbClr val="172033"/>
          </a:solidFill>
          <a:ln w="12700">
            <a:solidFill>
              <a:srgbClr val="22304D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969264" y="4133088"/>
            <a:ext cx="640080" cy="640080"/>
          </a:xfrm>
          <a:prstGeom prst="roundRect">
            <a:avLst>
              <a:gd name="adj" fmla="val 14286"/>
            </a:avLst>
          </a:prstGeom>
          <a:solidFill>
            <a:srgbClr val="1E2A42"/>
          </a:solidFill>
          <a:ln w="12700">
            <a:solidFill>
              <a:srgbClr val="0FB5BA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6424" y="4270248"/>
            <a:ext cx="365760" cy="36576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719072" y="4114800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systemd on the target</a:t>
            </a:r>
            <a:endParaRPr lang="en-US" sz="1500" dirty="0"/>
          </a:p>
        </p:txBody>
      </p:sp>
      <p:sp>
        <p:nvSpPr>
          <p:cNvPr id="20" name="Text 15"/>
          <p:cNvSpPr/>
          <p:nvPr/>
        </p:nvSpPr>
        <p:spPr>
          <a:xfrm>
            <a:off x="987552" y="4773168"/>
            <a:ext cx="4800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BFCB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Ubuntu 8.04 predates systemd. All commands use /etc/init.d/&lt;svc&gt; — verified script names against the live host (samba, postgresql-8.3...).</a:t>
            </a:r>
            <a:endParaRPr lang="en-US" sz="1150" dirty="0"/>
          </a:p>
        </p:txBody>
      </p:sp>
      <p:sp>
        <p:nvSpPr>
          <p:cNvPr id="21" name="Shape 16"/>
          <p:cNvSpPr/>
          <p:nvPr/>
        </p:nvSpPr>
        <p:spPr>
          <a:xfrm>
            <a:off x="6336792" y="3858768"/>
            <a:ext cx="5303520" cy="1783080"/>
          </a:xfrm>
          <a:prstGeom prst="roundRect">
            <a:avLst>
              <a:gd name="adj" fmla="val 5128"/>
            </a:avLst>
          </a:prstGeom>
          <a:solidFill>
            <a:srgbClr val="172033"/>
          </a:solidFill>
          <a:ln w="12700">
            <a:solidFill>
              <a:srgbClr val="22304D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6592824" y="4133088"/>
            <a:ext cx="640080" cy="640080"/>
          </a:xfrm>
          <a:prstGeom prst="roundRect">
            <a:avLst>
              <a:gd name="adj" fmla="val 14286"/>
            </a:avLst>
          </a:prstGeom>
          <a:solidFill>
            <a:srgbClr val="1E2A42"/>
          </a:solidFill>
          <a:ln w="12700">
            <a:solidFill>
              <a:srgbClr val="0FB5BA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9984" y="4270248"/>
            <a:ext cx="365760" cy="36576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7342632" y="4114800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Per-action verification</a:t>
            </a:r>
            <a:endParaRPr lang="en-US" sz="1500" dirty="0"/>
          </a:p>
        </p:txBody>
      </p:sp>
      <p:sp>
        <p:nvSpPr>
          <p:cNvPr id="25" name="Text 19"/>
          <p:cNvSpPr/>
          <p:nvPr/>
        </p:nvSpPr>
        <p:spPr>
          <a:xfrm>
            <a:off x="6611112" y="4773168"/>
            <a:ext cx="4800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BFCB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harden verifies by config-grep, stop/drop by port-unreachable, monitor-only is always 'handled' — the right proof for each action type.</a:t>
            </a:r>
            <a:endParaRPr lang="en-US" sz="1150" dirty="0"/>
          </a:p>
        </p:txBody>
      </p:sp>
      <p:sp>
        <p:nvSpPr>
          <p:cNvPr id="26" name="Text 20"/>
          <p:cNvSpPr/>
          <p:nvPr/>
        </p:nvSpPr>
        <p:spPr>
          <a:xfrm>
            <a:off x="457200" y="647395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69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AutoRemediate AI · DEPI Team 3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11183112" y="647395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69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20624"/>
            <a:ext cx="146304" cy="146304"/>
          </a:xfrm>
          <a:prstGeom prst="ellipse">
            <a:avLst/>
          </a:prstGeom>
          <a:solidFill>
            <a:srgbClr val="0FB5BA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420624"/>
            <a:ext cx="146304" cy="146304"/>
          </a:xfrm>
          <a:prstGeom prst="ellipse">
            <a:avLst/>
          </a:prstGeom>
          <a:solidFill>
            <a:srgbClr val="0FB5BA">
              <a:alpha val="40000"/>
            </a:srgbClr>
          </a:solidFill>
          <a:ln w="12700">
            <a:solidFill>
              <a:srgbClr val="0FB5B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13232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0FB5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13232" y="658368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Performance Indicators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713232" y="1828800"/>
            <a:ext cx="3520440" cy="3977640"/>
          </a:xfrm>
          <a:prstGeom prst="roundRect">
            <a:avLst>
              <a:gd name="adj" fmla="val 2597"/>
            </a:avLst>
          </a:prstGeom>
          <a:solidFill>
            <a:srgbClr val="172033"/>
          </a:solidFill>
          <a:ln w="12700">
            <a:solidFill>
              <a:srgbClr val="22304D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96112" y="205740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MTTR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96112" y="242316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BFCB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60s per finding</a:t>
            </a:r>
            <a:endParaRPr lang="en-US" sz="115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1307592" y="2788920"/>
          <a:ext cx="2331720" cy="2194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Text 7"/>
          <p:cNvSpPr/>
          <p:nvPr/>
        </p:nvSpPr>
        <p:spPr>
          <a:xfrm>
            <a:off x="1307592" y="361188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FB5B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&lt;60s</a:t>
            </a:r>
            <a:endParaRPr lang="en-US" sz="2600" dirty="0"/>
          </a:p>
        </p:txBody>
      </p:sp>
      <p:sp>
        <p:nvSpPr>
          <p:cNvPr id="11" name="Text 8"/>
          <p:cNvSpPr/>
          <p:nvPr/>
        </p:nvSpPr>
        <p:spPr>
          <a:xfrm>
            <a:off x="896112" y="512064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869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days for manual remediation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4507992" y="1828800"/>
            <a:ext cx="3520440" cy="3977640"/>
          </a:xfrm>
          <a:prstGeom prst="roundRect">
            <a:avLst>
              <a:gd name="adj" fmla="val 2597"/>
            </a:avLst>
          </a:prstGeom>
          <a:solidFill>
            <a:srgbClr val="172033"/>
          </a:solidFill>
          <a:ln w="12700">
            <a:solidFill>
              <a:srgbClr val="22304D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4690872" y="205740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Success Rate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4690872" y="242316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BFCB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approved criticals</a:t>
            </a:r>
            <a:endParaRPr lang="en-US" sz="1150" dirty="0"/>
          </a:p>
        </p:txBody>
      </p:sp>
      <p:graphicFrame>
        <p:nvGraphicFramePr>
          <p:cNvPr id="15" name="Chart 1" descr=""/>
          <p:cNvGraphicFramePr/>
          <p:nvPr/>
        </p:nvGraphicFramePr>
        <p:xfrm>
          <a:off x="5102352" y="2788920"/>
          <a:ext cx="2331720" cy="2194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6" name="Text 12"/>
          <p:cNvSpPr/>
          <p:nvPr/>
        </p:nvSpPr>
        <p:spPr>
          <a:xfrm>
            <a:off x="5102352" y="361188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0B98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2600" dirty="0"/>
          </a:p>
        </p:txBody>
      </p:sp>
      <p:sp>
        <p:nvSpPr>
          <p:cNvPr id="17" name="Text 13"/>
          <p:cNvSpPr/>
          <p:nvPr/>
        </p:nvSpPr>
        <p:spPr>
          <a:xfrm>
            <a:off x="4690872" y="512064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869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days for manual remediation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8302752" y="1828800"/>
            <a:ext cx="3520440" cy="3977640"/>
          </a:xfrm>
          <a:prstGeom prst="roundRect">
            <a:avLst>
              <a:gd name="adj" fmla="val 2597"/>
            </a:avLst>
          </a:prstGeom>
          <a:solidFill>
            <a:srgbClr val="172033"/>
          </a:solidFill>
          <a:ln w="12700">
            <a:solidFill>
              <a:srgbClr val="22304D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9" name="Text 15"/>
          <p:cNvSpPr/>
          <p:nvPr/>
        </p:nvSpPr>
        <p:spPr>
          <a:xfrm>
            <a:off x="8485632" y="205740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Safe Disruption</a:t>
            </a:r>
            <a:endParaRPr lang="en-US" sz="1700" dirty="0"/>
          </a:p>
        </p:txBody>
      </p:sp>
      <p:sp>
        <p:nvSpPr>
          <p:cNvPr id="20" name="Text 16"/>
          <p:cNvSpPr/>
          <p:nvPr/>
        </p:nvSpPr>
        <p:spPr>
          <a:xfrm>
            <a:off x="8485632" y="242316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BFCB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 unintended downtime</a:t>
            </a:r>
            <a:endParaRPr lang="en-US" sz="1150" dirty="0"/>
          </a:p>
        </p:txBody>
      </p:sp>
      <p:graphicFrame>
        <p:nvGraphicFramePr>
          <p:cNvPr id="21" name="Chart 2" descr=""/>
          <p:cNvGraphicFramePr/>
          <p:nvPr/>
        </p:nvGraphicFramePr>
        <p:xfrm>
          <a:off x="8897112" y="2788920"/>
          <a:ext cx="2331720" cy="2194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22" name="Text 17"/>
          <p:cNvSpPr/>
          <p:nvPr/>
        </p:nvSpPr>
        <p:spPr>
          <a:xfrm>
            <a:off x="8897112" y="361188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A78B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2600" dirty="0"/>
          </a:p>
        </p:txBody>
      </p:sp>
      <p:sp>
        <p:nvSpPr>
          <p:cNvPr id="23" name="Text 18"/>
          <p:cNvSpPr/>
          <p:nvPr/>
        </p:nvSpPr>
        <p:spPr>
          <a:xfrm>
            <a:off x="8485632" y="512064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869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days for manual remediation</a:t>
            </a:r>
            <a:endParaRPr lang="en-US" sz="1050" dirty="0"/>
          </a:p>
        </p:txBody>
      </p:sp>
      <p:sp>
        <p:nvSpPr>
          <p:cNvPr id="24" name="Text 19"/>
          <p:cNvSpPr/>
          <p:nvPr/>
        </p:nvSpPr>
        <p:spPr>
          <a:xfrm>
            <a:off x="457200" y="647395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69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AutoRemediate AI · DEPI Team 3</a:t>
            </a:r>
            <a:endParaRPr lang="en-US" sz="900" dirty="0"/>
          </a:p>
        </p:txBody>
      </p:sp>
      <p:sp>
        <p:nvSpPr>
          <p:cNvPr id="25" name="Text 20"/>
          <p:cNvSpPr/>
          <p:nvPr/>
        </p:nvSpPr>
        <p:spPr>
          <a:xfrm>
            <a:off x="11183112" y="647395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69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20624"/>
            <a:ext cx="146304" cy="146304"/>
          </a:xfrm>
          <a:prstGeom prst="ellipse">
            <a:avLst/>
          </a:prstGeom>
          <a:solidFill>
            <a:srgbClr val="0FB5BA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420624"/>
            <a:ext cx="146304" cy="146304"/>
          </a:xfrm>
          <a:prstGeom prst="ellipse">
            <a:avLst/>
          </a:prstGeom>
          <a:solidFill>
            <a:srgbClr val="0FB5BA">
              <a:alpha val="40000"/>
            </a:srgbClr>
          </a:solidFill>
          <a:ln w="12700">
            <a:solidFill>
              <a:srgbClr val="0FB5B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13232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0FB5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GRADUATION DELIVERABLES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13232" y="658368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Required Artifact — Where It Lives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713232" y="1783080"/>
            <a:ext cx="10881360" cy="393192"/>
          </a:xfrm>
          <a:prstGeom prst="roundRect">
            <a:avLst>
              <a:gd name="adj" fmla="val 11628"/>
            </a:avLst>
          </a:prstGeom>
          <a:solidFill>
            <a:srgbClr val="1E2A42"/>
          </a:solidFill>
          <a:ln/>
        </p:spPr>
      </p:sp>
      <p:sp>
        <p:nvSpPr>
          <p:cNvPr id="7" name="Text 5"/>
          <p:cNvSpPr/>
          <p:nvPr/>
        </p:nvSpPr>
        <p:spPr>
          <a:xfrm>
            <a:off x="941832" y="1783080"/>
            <a:ext cx="49377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Blueprint Deliverable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925312" y="1783080"/>
            <a:ext cx="58521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Produced In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13232" y="2231136"/>
            <a:ext cx="10881360" cy="393192"/>
          </a:xfrm>
          <a:prstGeom prst="rect">
            <a:avLst/>
          </a:prstGeom>
          <a:solidFill>
            <a:srgbClr val="111726"/>
          </a:solidFill>
          <a:ln w="6350">
            <a:solidFill>
              <a:srgbClr val="22304D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392" y="2322576"/>
            <a:ext cx="201168" cy="20116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124712" y="2231136"/>
            <a:ext cx="46634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FCB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Configuration Documentation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5925312" y="2231136"/>
            <a:ext cx="56692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B5B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docs/Tool_Configuration_Documentation.docx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713232" y="2642616"/>
            <a:ext cx="10881360" cy="393192"/>
          </a:xfrm>
          <a:prstGeom prst="rect">
            <a:avLst/>
          </a:prstGeom>
          <a:solidFill>
            <a:srgbClr val="172033"/>
          </a:solidFill>
          <a:ln w="6350">
            <a:solidFill>
              <a:srgbClr val="22304D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392" y="2734056"/>
            <a:ext cx="201168" cy="20116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124712" y="2642616"/>
            <a:ext cx="46634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FCB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Scope Document</a:t>
            </a:r>
            <a:endParaRPr lang="en-US" sz="1150" dirty="0"/>
          </a:p>
        </p:txBody>
      </p:sp>
      <p:sp>
        <p:nvSpPr>
          <p:cNvPr id="16" name="Text 12"/>
          <p:cNvSpPr/>
          <p:nvPr/>
        </p:nvSpPr>
        <p:spPr>
          <a:xfrm>
            <a:off x="5925312" y="2642616"/>
            <a:ext cx="56692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B5B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docs/Assessment_Scope_Document.docx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713232" y="3054096"/>
            <a:ext cx="10881360" cy="393192"/>
          </a:xfrm>
          <a:prstGeom prst="rect">
            <a:avLst/>
          </a:prstGeom>
          <a:solidFill>
            <a:srgbClr val="111726"/>
          </a:solidFill>
          <a:ln w="6350">
            <a:solidFill>
              <a:srgbClr val="22304D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" y="3145536"/>
            <a:ext cx="201168" cy="20116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124712" y="3054096"/>
            <a:ext cx="46634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FCB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Vulnerability Scan Report</a:t>
            </a:r>
            <a:endParaRPr lang="en-US" sz="1150" dirty="0"/>
          </a:p>
        </p:txBody>
      </p:sp>
      <p:sp>
        <p:nvSpPr>
          <p:cNvPr id="20" name="Text 15"/>
          <p:cNvSpPr/>
          <p:nvPr/>
        </p:nvSpPr>
        <p:spPr>
          <a:xfrm>
            <a:off x="5925312" y="3054096"/>
            <a:ext cx="56692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B5B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docs/Vulnerability_Scan_Report.docx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>
            <a:off x="713232" y="3465576"/>
            <a:ext cx="10881360" cy="393192"/>
          </a:xfrm>
          <a:prstGeom prst="rect">
            <a:avLst/>
          </a:prstGeom>
          <a:solidFill>
            <a:srgbClr val="172033"/>
          </a:solidFill>
          <a:ln w="6350">
            <a:solidFill>
              <a:srgbClr val="22304D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0392" y="3557016"/>
            <a:ext cx="201168" cy="20116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124712" y="3465576"/>
            <a:ext cx="46634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FCB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Analysis Document</a:t>
            </a:r>
            <a:endParaRPr lang="en-US" sz="1150" dirty="0"/>
          </a:p>
        </p:txBody>
      </p:sp>
      <p:sp>
        <p:nvSpPr>
          <p:cNvPr id="24" name="Text 18"/>
          <p:cNvSpPr/>
          <p:nvPr/>
        </p:nvSpPr>
        <p:spPr>
          <a:xfrm>
            <a:off x="5925312" y="3465576"/>
            <a:ext cx="56692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B5B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docs/Initial_Analysis_Document.docx</a:t>
            </a:r>
            <a:endParaRPr lang="en-US" sz="1050" dirty="0"/>
          </a:p>
        </p:txBody>
      </p:sp>
      <p:sp>
        <p:nvSpPr>
          <p:cNvPr id="25" name="Shape 19"/>
          <p:cNvSpPr/>
          <p:nvPr/>
        </p:nvSpPr>
        <p:spPr>
          <a:xfrm>
            <a:off x="713232" y="3877056"/>
            <a:ext cx="10881360" cy="393192"/>
          </a:xfrm>
          <a:prstGeom prst="rect">
            <a:avLst/>
          </a:prstGeom>
          <a:solidFill>
            <a:srgbClr val="111726"/>
          </a:solidFill>
          <a:ln w="6350">
            <a:solidFill>
              <a:srgbClr val="22304D"/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0392" y="3968496"/>
            <a:ext cx="201168" cy="20116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124712" y="3877056"/>
            <a:ext cx="46634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FCB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Prioritization Report</a:t>
            </a:r>
            <a:endParaRPr lang="en-US" sz="1150" dirty="0"/>
          </a:p>
        </p:txBody>
      </p:sp>
      <p:sp>
        <p:nvSpPr>
          <p:cNvPr id="28" name="Text 21"/>
          <p:cNvSpPr/>
          <p:nvPr/>
        </p:nvSpPr>
        <p:spPr>
          <a:xfrm>
            <a:off x="5925312" y="3877056"/>
            <a:ext cx="56692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B5B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docs/Prioritization_Report.docx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713232" y="4288536"/>
            <a:ext cx="10881360" cy="393192"/>
          </a:xfrm>
          <a:prstGeom prst="rect">
            <a:avLst/>
          </a:prstGeom>
          <a:solidFill>
            <a:srgbClr val="172033"/>
          </a:solidFill>
          <a:ln w="6350">
            <a:solidFill>
              <a:srgbClr val="22304D"/>
            </a:solidFill>
            <a:prstDash val="solid"/>
          </a:ln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0392" y="4379976"/>
            <a:ext cx="201168" cy="201168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1124712" y="4288536"/>
            <a:ext cx="46634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FCB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Remediation Plan</a:t>
            </a:r>
            <a:endParaRPr lang="en-US" sz="1150" dirty="0"/>
          </a:p>
        </p:txBody>
      </p:sp>
      <p:sp>
        <p:nvSpPr>
          <p:cNvPr id="32" name="Text 24"/>
          <p:cNvSpPr/>
          <p:nvPr/>
        </p:nvSpPr>
        <p:spPr>
          <a:xfrm>
            <a:off x="5925312" y="4288536"/>
            <a:ext cx="56692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B5B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docs/Remediation_Plan.docx</a:t>
            </a:r>
            <a:endParaRPr lang="en-US" sz="1050" dirty="0"/>
          </a:p>
        </p:txBody>
      </p:sp>
      <p:sp>
        <p:nvSpPr>
          <p:cNvPr id="33" name="Shape 25"/>
          <p:cNvSpPr/>
          <p:nvPr/>
        </p:nvSpPr>
        <p:spPr>
          <a:xfrm>
            <a:off x="713232" y="4700016"/>
            <a:ext cx="10881360" cy="393192"/>
          </a:xfrm>
          <a:prstGeom prst="rect">
            <a:avLst/>
          </a:prstGeom>
          <a:solidFill>
            <a:srgbClr val="111726"/>
          </a:solidFill>
          <a:ln w="6350">
            <a:solidFill>
              <a:srgbClr val="22304D"/>
            </a:solidFill>
            <a:prstDash val="solid"/>
          </a:ln>
        </p:spPr>
      </p:sp>
      <p:pic>
        <p:nvPicPr>
          <p:cNvPr id="3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0392" y="4791456"/>
            <a:ext cx="201168" cy="201168"/>
          </a:xfrm>
          <a:prstGeom prst="rect">
            <a:avLst/>
          </a:prstGeom>
        </p:spPr>
      </p:pic>
      <p:sp>
        <p:nvSpPr>
          <p:cNvPr id="35" name="Text 26"/>
          <p:cNvSpPr/>
          <p:nvPr/>
        </p:nvSpPr>
        <p:spPr>
          <a:xfrm>
            <a:off x="1124712" y="4700016"/>
            <a:ext cx="46634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FCB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Report</a:t>
            </a:r>
            <a:endParaRPr lang="en-US" sz="1150" dirty="0"/>
          </a:p>
        </p:txBody>
      </p:sp>
      <p:sp>
        <p:nvSpPr>
          <p:cNvPr id="36" name="Text 27"/>
          <p:cNvSpPr/>
          <p:nvPr/>
        </p:nvSpPr>
        <p:spPr>
          <a:xfrm>
            <a:off x="5925312" y="4700016"/>
            <a:ext cx="56692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B5B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docs/Verification_Report.docx</a:t>
            </a:r>
            <a:endParaRPr lang="en-US" sz="1050" dirty="0"/>
          </a:p>
        </p:txBody>
      </p:sp>
      <p:sp>
        <p:nvSpPr>
          <p:cNvPr id="37" name="Shape 28"/>
          <p:cNvSpPr/>
          <p:nvPr/>
        </p:nvSpPr>
        <p:spPr>
          <a:xfrm>
            <a:off x="713232" y="5111496"/>
            <a:ext cx="10881360" cy="393192"/>
          </a:xfrm>
          <a:prstGeom prst="rect">
            <a:avLst/>
          </a:prstGeom>
          <a:solidFill>
            <a:srgbClr val="172033"/>
          </a:solidFill>
          <a:ln w="6350">
            <a:solidFill>
              <a:srgbClr val="22304D"/>
            </a:solidFill>
            <a:prstDash val="solid"/>
          </a:ln>
        </p:spPr>
      </p:sp>
      <p:pic>
        <p:nvPicPr>
          <p:cNvPr id="38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0392" y="5202936"/>
            <a:ext cx="201168" cy="201168"/>
          </a:xfrm>
          <a:prstGeom prst="rect">
            <a:avLst/>
          </a:prstGeom>
        </p:spPr>
      </p:pic>
      <p:sp>
        <p:nvSpPr>
          <p:cNvPr id="39" name="Text 29"/>
          <p:cNvSpPr/>
          <p:nvPr/>
        </p:nvSpPr>
        <p:spPr>
          <a:xfrm>
            <a:off x="1124712" y="5111496"/>
            <a:ext cx="46634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FCB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Remediation Report</a:t>
            </a:r>
            <a:endParaRPr lang="en-US" sz="1150" dirty="0"/>
          </a:p>
        </p:txBody>
      </p:sp>
      <p:sp>
        <p:nvSpPr>
          <p:cNvPr id="40" name="Text 30"/>
          <p:cNvSpPr/>
          <p:nvPr/>
        </p:nvSpPr>
        <p:spPr>
          <a:xfrm>
            <a:off x="5925312" y="5111496"/>
            <a:ext cx="56692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B5B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docs/Final_Remediation_Report.docx</a:t>
            </a:r>
            <a:endParaRPr lang="en-US" sz="1050" dirty="0"/>
          </a:p>
        </p:txBody>
      </p:sp>
      <p:sp>
        <p:nvSpPr>
          <p:cNvPr id="41" name="Shape 31"/>
          <p:cNvSpPr/>
          <p:nvPr/>
        </p:nvSpPr>
        <p:spPr>
          <a:xfrm>
            <a:off x="713232" y="5522976"/>
            <a:ext cx="10881360" cy="393192"/>
          </a:xfrm>
          <a:prstGeom prst="rect">
            <a:avLst/>
          </a:prstGeom>
          <a:solidFill>
            <a:srgbClr val="111726"/>
          </a:solidFill>
          <a:ln w="6350">
            <a:solidFill>
              <a:srgbClr val="22304D"/>
            </a:solidFill>
            <a:prstDash val="solid"/>
          </a:ln>
        </p:spPr>
      </p:sp>
      <p:pic>
        <p:nvPicPr>
          <p:cNvPr id="42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50392" y="5614416"/>
            <a:ext cx="201168" cy="201168"/>
          </a:xfrm>
          <a:prstGeom prst="rect">
            <a:avLst/>
          </a:prstGeom>
        </p:spPr>
      </p:pic>
      <p:sp>
        <p:nvSpPr>
          <p:cNvPr id="43" name="Text 32"/>
          <p:cNvSpPr/>
          <p:nvPr/>
        </p:nvSpPr>
        <p:spPr>
          <a:xfrm>
            <a:off x="1124712" y="5522976"/>
            <a:ext cx="46634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FCB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Analysis &amp; Design (UML/DFD)</a:t>
            </a:r>
            <a:endParaRPr lang="en-US" sz="1150" dirty="0"/>
          </a:p>
        </p:txBody>
      </p:sp>
      <p:sp>
        <p:nvSpPr>
          <p:cNvPr id="44" name="Text 33"/>
          <p:cNvSpPr/>
          <p:nvPr/>
        </p:nvSpPr>
        <p:spPr>
          <a:xfrm>
            <a:off x="5925312" y="5522976"/>
            <a:ext cx="56692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B5B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docs/System_Analysis_Design.md  (Mermaid)</a:t>
            </a:r>
            <a:endParaRPr lang="en-US" sz="1050" dirty="0"/>
          </a:p>
        </p:txBody>
      </p:sp>
      <p:sp>
        <p:nvSpPr>
          <p:cNvPr id="45" name="Shape 34"/>
          <p:cNvSpPr/>
          <p:nvPr/>
        </p:nvSpPr>
        <p:spPr>
          <a:xfrm>
            <a:off x="713232" y="5934456"/>
            <a:ext cx="10881360" cy="393192"/>
          </a:xfrm>
          <a:prstGeom prst="rect">
            <a:avLst/>
          </a:prstGeom>
          <a:solidFill>
            <a:srgbClr val="172033"/>
          </a:solidFill>
          <a:ln w="6350">
            <a:solidFill>
              <a:srgbClr val="22304D"/>
            </a:solidFill>
            <a:prstDash val="solid"/>
          </a:ln>
        </p:spPr>
      </p:sp>
      <p:pic>
        <p:nvPicPr>
          <p:cNvPr id="46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50392" y="6025896"/>
            <a:ext cx="201168" cy="201168"/>
          </a:xfrm>
          <a:prstGeom prst="rect">
            <a:avLst/>
          </a:prstGeom>
        </p:spPr>
      </p:pic>
      <p:sp>
        <p:nvSpPr>
          <p:cNvPr id="47" name="Text 35"/>
          <p:cNvSpPr/>
          <p:nvPr/>
        </p:nvSpPr>
        <p:spPr>
          <a:xfrm>
            <a:off x="1124712" y="5934456"/>
            <a:ext cx="46634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FCB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data model</a:t>
            </a:r>
            <a:endParaRPr lang="en-US" sz="1150" dirty="0"/>
          </a:p>
        </p:txBody>
      </p:sp>
      <p:sp>
        <p:nvSpPr>
          <p:cNvPr id="48" name="Text 36"/>
          <p:cNvSpPr/>
          <p:nvPr/>
        </p:nvSpPr>
        <p:spPr>
          <a:xfrm>
            <a:off x="5925312" y="5934456"/>
            <a:ext cx="56692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B5B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sql/schema.sql  ·  live in Supabase</a:t>
            </a:r>
            <a:endParaRPr lang="en-US" sz="1050" dirty="0"/>
          </a:p>
        </p:txBody>
      </p:sp>
      <p:sp>
        <p:nvSpPr>
          <p:cNvPr id="49" name="Text 37"/>
          <p:cNvSpPr/>
          <p:nvPr/>
        </p:nvSpPr>
        <p:spPr>
          <a:xfrm>
            <a:off x="457200" y="647395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69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AutoRemediate AI · DEPI Team 3</a:t>
            </a:r>
            <a:endParaRPr lang="en-US" sz="900" dirty="0"/>
          </a:p>
        </p:txBody>
      </p:sp>
      <p:sp>
        <p:nvSpPr>
          <p:cNvPr id="50" name="Text 38"/>
          <p:cNvSpPr/>
          <p:nvPr/>
        </p:nvSpPr>
        <p:spPr>
          <a:xfrm>
            <a:off x="11183112" y="647395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69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20624"/>
            <a:ext cx="146304" cy="146304"/>
          </a:xfrm>
          <a:prstGeom prst="ellipse">
            <a:avLst/>
          </a:prstGeom>
          <a:solidFill>
            <a:srgbClr val="0FB5BA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420624"/>
            <a:ext cx="146304" cy="146304"/>
          </a:xfrm>
          <a:prstGeom prst="ellipse">
            <a:avLst/>
          </a:prstGeom>
          <a:solidFill>
            <a:srgbClr val="0FB5BA">
              <a:alpha val="40000"/>
            </a:srgbClr>
          </a:solidFill>
          <a:ln w="12700">
            <a:solidFill>
              <a:srgbClr val="0FB5B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13232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0FB5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 &amp; VERSION CONTROL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13232" y="658368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Perfectly Documented on GitHub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713232" y="1828800"/>
            <a:ext cx="5486400" cy="4023360"/>
          </a:xfrm>
          <a:prstGeom prst="roundRect">
            <a:avLst>
              <a:gd name="adj" fmla="val 2273"/>
            </a:avLst>
          </a:prstGeom>
          <a:solidFill>
            <a:srgbClr val="172033"/>
          </a:solidFill>
          <a:ln w="12700">
            <a:solidFill>
              <a:srgbClr val="22304D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2103120"/>
            <a:ext cx="548640" cy="5486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91640" y="210312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Clean Weekly Commit History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1051560" y="2953512"/>
            <a:ext cx="164592" cy="164592"/>
          </a:xfrm>
          <a:prstGeom prst="ellipse">
            <a:avLst/>
          </a:prstGeom>
          <a:solidFill>
            <a:srgbClr val="0FB5BA"/>
          </a:solidFill>
          <a:ln/>
        </p:spPr>
      </p:sp>
      <p:sp>
        <p:nvSpPr>
          <p:cNvPr id="10" name="Shape 7"/>
          <p:cNvSpPr/>
          <p:nvPr/>
        </p:nvSpPr>
        <p:spPr>
          <a:xfrm>
            <a:off x="1133856" y="3118104"/>
            <a:ext cx="0" cy="548640"/>
          </a:xfrm>
          <a:prstGeom prst="line">
            <a:avLst/>
          </a:prstGeom>
          <a:noFill/>
          <a:ln w="19050">
            <a:solidFill>
              <a:srgbClr val="22304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371600" y="283464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B5B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Week 1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1371600" y="312724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FCB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 setup, Nessus config, scope docs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1051560" y="3666744"/>
            <a:ext cx="164592" cy="164592"/>
          </a:xfrm>
          <a:prstGeom prst="ellipse">
            <a:avLst/>
          </a:prstGeom>
          <a:solidFill>
            <a:srgbClr val="0FB5BA"/>
          </a:solidFill>
          <a:ln/>
        </p:spPr>
      </p:sp>
      <p:sp>
        <p:nvSpPr>
          <p:cNvPr id="14" name="Shape 11"/>
          <p:cNvSpPr/>
          <p:nvPr/>
        </p:nvSpPr>
        <p:spPr>
          <a:xfrm>
            <a:off x="1133856" y="3831336"/>
            <a:ext cx="0" cy="548640"/>
          </a:xfrm>
          <a:prstGeom prst="line">
            <a:avLst/>
          </a:prstGeom>
          <a:noFill/>
          <a:ln w="19050">
            <a:solidFill>
              <a:srgbClr val="22304D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371600" y="3547872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B5B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Week 2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1371600" y="38404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FCB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Vulnerability scan execution and analysis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1051560" y="4379976"/>
            <a:ext cx="164592" cy="164592"/>
          </a:xfrm>
          <a:prstGeom prst="ellipse">
            <a:avLst/>
          </a:prstGeom>
          <a:solidFill>
            <a:srgbClr val="0FB5BA"/>
          </a:solidFill>
          <a:ln/>
        </p:spPr>
      </p:sp>
      <p:sp>
        <p:nvSpPr>
          <p:cNvPr id="18" name="Shape 15"/>
          <p:cNvSpPr/>
          <p:nvPr/>
        </p:nvSpPr>
        <p:spPr>
          <a:xfrm>
            <a:off x="1133856" y="4544568"/>
            <a:ext cx="0" cy="548640"/>
          </a:xfrm>
          <a:prstGeom prst="line">
            <a:avLst/>
          </a:prstGeom>
          <a:noFill/>
          <a:ln w="19050">
            <a:solidFill>
              <a:srgbClr val="22304D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371600" y="4261104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B5B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Week 3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1371600" y="455371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FCB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Remediation logic, prioritization, approval workflow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1051560" y="5093208"/>
            <a:ext cx="164592" cy="164592"/>
          </a:xfrm>
          <a:prstGeom prst="ellipse">
            <a:avLst/>
          </a:prstGeom>
          <a:solidFill>
            <a:srgbClr val="0FB5BA"/>
          </a:solidFill>
          <a:ln/>
        </p:spPr>
      </p:sp>
      <p:sp>
        <p:nvSpPr>
          <p:cNvPr id="22" name="Text 19"/>
          <p:cNvSpPr/>
          <p:nvPr/>
        </p:nvSpPr>
        <p:spPr>
          <a:xfrm>
            <a:off x="1371600" y="4974336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B5B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Week 4</a:t>
            </a:r>
            <a:endParaRPr lang="en-US" sz="1250" dirty="0"/>
          </a:p>
        </p:txBody>
      </p:sp>
      <p:sp>
        <p:nvSpPr>
          <p:cNvPr id="23" name="Text 20"/>
          <p:cNvSpPr/>
          <p:nvPr/>
        </p:nvSpPr>
        <p:spPr>
          <a:xfrm>
            <a:off x="1371600" y="5266944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FCB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Execution, verification, web console, final reporting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6446520" y="1828800"/>
            <a:ext cx="5029200" cy="914400"/>
          </a:xfrm>
          <a:prstGeom prst="roundRect">
            <a:avLst>
              <a:gd name="adj" fmla="val 10000"/>
            </a:avLst>
          </a:prstGeom>
          <a:solidFill>
            <a:srgbClr val="172033"/>
          </a:solidFill>
          <a:ln w="12700">
            <a:solidFill>
              <a:srgbClr val="22304D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6647688" y="2011680"/>
            <a:ext cx="548640" cy="548640"/>
          </a:xfrm>
          <a:prstGeom prst="roundRect">
            <a:avLst>
              <a:gd name="adj" fmla="val 15000"/>
            </a:avLst>
          </a:prstGeom>
          <a:solidFill>
            <a:srgbClr val="1E2A42"/>
          </a:solidFill>
          <a:ln w="12700">
            <a:solidFill>
              <a:srgbClr val="0FB5BA"/>
            </a:solidFill>
            <a:prstDash val="solid"/>
          </a:ln>
        </p:spPr>
      </p:sp>
      <p:pic>
        <p:nvPicPr>
          <p:cNvPr id="2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2130552"/>
            <a:ext cx="310896" cy="310896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7315200" y="1938528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 real .docx deliverables</a:t>
            </a:r>
            <a:endParaRPr lang="en-US" sz="1300" dirty="0"/>
          </a:p>
        </p:txBody>
      </p:sp>
      <p:sp>
        <p:nvSpPr>
          <p:cNvPr id="28" name="Text 24"/>
          <p:cNvSpPr/>
          <p:nvPr/>
        </p:nvSpPr>
        <p:spPr>
          <a:xfrm>
            <a:off x="7315200" y="228600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BFCB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with python-docx — headings &amp; tables, real scan data.</a:t>
            </a:r>
            <a:endParaRPr lang="en-US" sz="1050" dirty="0"/>
          </a:p>
        </p:txBody>
      </p:sp>
      <p:sp>
        <p:nvSpPr>
          <p:cNvPr id="29" name="Shape 25"/>
          <p:cNvSpPr/>
          <p:nvPr/>
        </p:nvSpPr>
        <p:spPr>
          <a:xfrm>
            <a:off x="6446520" y="2862072"/>
            <a:ext cx="5029200" cy="914400"/>
          </a:xfrm>
          <a:prstGeom prst="roundRect">
            <a:avLst>
              <a:gd name="adj" fmla="val 10000"/>
            </a:avLst>
          </a:prstGeom>
          <a:solidFill>
            <a:srgbClr val="172033"/>
          </a:solidFill>
          <a:ln w="12700">
            <a:solidFill>
              <a:srgbClr val="22304D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30" name="Shape 26"/>
          <p:cNvSpPr/>
          <p:nvPr/>
        </p:nvSpPr>
        <p:spPr>
          <a:xfrm>
            <a:off x="6647688" y="3044952"/>
            <a:ext cx="548640" cy="548640"/>
          </a:xfrm>
          <a:prstGeom prst="roundRect">
            <a:avLst>
              <a:gd name="adj" fmla="val 15000"/>
            </a:avLst>
          </a:prstGeom>
          <a:solidFill>
            <a:srgbClr val="1E2A42"/>
          </a:solidFill>
          <a:ln w="12700">
            <a:solidFill>
              <a:srgbClr val="0FB5BA"/>
            </a:solidFill>
            <a:prstDash val="solid"/>
          </a:ln>
        </p:spPr>
      </p:sp>
      <p:pic>
        <p:nvPicPr>
          <p:cNvPr id="3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0" y="3163824"/>
            <a:ext cx="310896" cy="310896"/>
          </a:xfrm>
          <a:prstGeom prst="rect">
            <a:avLst/>
          </a:prstGeom>
        </p:spPr>
      </p:pic>
      <p:sp>
        <p:nvSpPr>
          <p:cNvPr id="32" name="Text 27"/>
          <p:cNvSpPr/>
          <p:nvPr/>
        </p:nvSpPr>
        <p:spPr>
          <a:xfrm>
            <a:off x="7315200" y="297180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Mermaid UML / DFD / sequence</a:t>
            </a:r>
            <a:endParaRPr lang="en-US" sz="1300" dirty="0"/>
          </a:p>
        </p:txBody>
      </p:sp>
      <p:sp>
        <p:nvSpPr>
          <p:cNvPr id="33" name="Text 28"/>
          <p:cNvSpPr/>
          <p:nvPr/>
        </p:nvSpPr>
        <p:spPr>
          <a:xfrm>
            <a:off x="7315200" y="3319272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BFCB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System_Analysis_Design.md renders directly on GitHub.</a:t>
            </a:r>
            <a:endParaRPr lang="en-US" sz="1050" dirty="0"/>
          </a:p>
        </p:txBody>
      </p:sp>
      <p:sp>
        <p:nvSpPr>
          <p:cNvPr id="34" name="Shape 29"/>
          <p:cNvSpPr/>
          <p:nvPr/>
        </p:nvSpPr>
        <p:spPr>
          <a:xfrm>
            <a:off x="6446520" y="3895344"/>
            <a:ext cx="5029200" cy="914400"/>
          </a:xfrm>
          <a:prstGeom prst="roundRect">
            <a:avLst>
              <a:gd name="adj" fmla="val 10000"/>
            </a:avLst>
          </a:prstGeom>
          <a:solidFill>
            <a:srgbClr val="172033"/>
          </a:solidFill>
          <a:ln w="12700">
            <a:solidFill>
              <a:srgbClr val="22304D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35" name="Shape 30"/>
          <p:cNvSpPr/>
          <p:nvPr/>
        </p:nvSpPr>
        <p:spPr>
          <a:xfrm>
            <a:off x="6647688" y="4078224"/>
            <a:ext cx="548640" cy="548640"/>
          </a:xfrm>
          <a:prstGeom prst="roundRect">
            <a:avLst>
              <a:gd name="adj" fmla="val 15000"/>
            </a:avLst>
          </a:prstGeom>
          <a:solidFill>
            <a:srgbClr val="1E2A42"/>
          </a:solidFill>
          <a:ln w="12700">
            <a:solidFill>
              <a:srgbClr val="0FB5BA"/>
            </a:solidFill>
            <a:prstDash val="solid"/>
          </a:ln>
        </p:spPr>
      </p:sp>
      <p:pic>
        <p:nvPicPr>
          <p:cNvPr id="3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6560" y="4197096"/>
            <a:ext cx="310896" cy="310896"/>
          </a:xfrm>
          <a:prstGeom prst="rect">
            <a:avLst/>
          </a:prstGeom>
        </p:spPr>
      </p:pic>
      <p:sp>
        <p:nvSpPr>
          <p:cNvPr id="37" name="Text 31"/>
          <p:cNvSpPr/>
          <p:nvPr/>
        </p:nvSpPr>
        <p:spPr>
          <a:xfrm>
            <a:off x="7315200" y="400507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Secrets never committed</a:t>
            </a:r>
            <a:endParaRPr lang="en-US" sz="1300" dirty="0"/>
          </a:p>
        </p:txBody>
      </p:sp>
      <p:sp>
        <p:nvSpPr>
          <p:cNvPr id="38" name="Text 32"/>
          <p:cNvSpPr/>
          <p:nvPr/>
        </p:nvSpPr>
        <p:spPr>
          <a:xfrm>
            <a:off x="7315200" y="4352544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BFCB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config.json git-ignored; config.example.json committed instead.</a:t>
            </a:r>
            <a:endParaRPr lang="en-US" sz="1050" dirty="0"/>
          </a:p>
        </p:txBody>
      </p:sp>
      <p:sp>
        <p:nvSpPr>
          <p:cNvPr id="39" name="Shape 33"/>
          <p:cNvSpPr/>
          <p:nvPr/>
        </p:nvSpPr>
        <p:spPr>
          <a:xfrm>
            <a:off x="6446520" y="4928616"/>
            <a:ext cx="5029200" cy="914400"/>
          </a:xfrm>
          <a:prstGeom prst="roundRect">
            <a:avLst>
              <a:gd name="adj" fmla="val 10000"/>
            </a:avLst>
          </a:prstGeom>
          <a:solidFill>
            <a:srgbClr val="172033"/>
          </a:solidFill>
          <a:ln w="12700">
            <a:solidFill>
              <a:srgbClr val="22304D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40" name="Shape 34"/>
          <p:cNvSpPr/>
          <p:nvPr/>
        </p:nvSpPr>
        <p:spPr>
          <a:xfrm>
            <a:off x="6647688" y="5111496"/>
            <a:ext cx="548640" cy="548640"/>
          </a:xfrm>
          <a:prstGeom prst="roundRect">
            <a:avLst>
              <a:gd name="adj" fmla="val 15000"/>
            </a:avLst>
          </a:prstGeom>
          <a:solidFill>
            <a:srgbClr val="1E2A42"/>
          </a:solidFill>
          <a:ln w="12700">
            <a:solidFill>
              <a:srgbClr val="0FB5BA"/>
            </a:solidFill>
            <a:prstDash val="solid"/>
          </a:ln>
        </p:spPr>
      </p:sp>
      <p:pic>
        <p:nvPicPr>
          <p:cNvPr id="4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66560" y="5230368"/>
            <a:ext cx="310896" cy="310896"/>
          </a:xfrm>
          <a:prstGeom prst="rect">
            <a:avLst/>
          </a:prstGeom>
        </p:spPr>
      </p:pic>
      <p:sp>
        <p:nvSpPr>
          <p:cNvPr id="42" name="Text 35"/>
          <p:cNvSpPr/>
          <p:nvPr/>
        </p:nvSpPr>
        <p:spPr>
          <a:xfrm>
            <a:off x="7315200" y="5038344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53+ unit tests passing</a:t>
            </a:r>
            <a:endParaRPr lang="en-US" sz="1300" dirty="0"/>
          </a:p>
        </p:txBody>
      </p:sp>
      <p:sp>
        <p:nvSpPr>
          <p:cNvPr id="43" name="Text 36"/>
          <p:cNvSpPr/>
          <p:nvPr/>
        </p:nvSpPr>
        <p:spPr>
          <a:xfrm>
            <a:off x="7315200" y="5385816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BFCB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Scorer, ladder, menu, API — runnable with no live target.</a:t>
            </a:r>
            <a:endParaRPr lang="en-US" sz="1050" dirty="0"/>
          </a:p>
        </p:txBody>
      </p:sp>
      <p:sp>
        <p:nvSpPr>
          <p:cNvPr id="44" name="Text 37"/>
          <p:cNvSpPr/>
          <p:nvPr/>
        </p:nvSpPr>
        <p:spPr>
          <a:xfrm>
            <a:off x="457200" y="647395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69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AutoRemediate AI · DEPI Team 3</a:t>
            </a:r>
            <a:endParaRPr lang="en-US" sz="900" dirty="0"/>
          </a:p>
        </p:txBody>
      </p:sp>
      <p:sp>
        <p:nvSpPr>
          <p:cNvPr id="45" name="Text 38"/>
          <p:cNvSpPr/>
          <p:nvPr/>
        </p:nvSpPr>
        <p:spPr>
          <a:xfrm>
            <a:off x="11183112" y="647395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69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20624"/>
            <a:ext cx="146304" cy="146304"/>
          </a:xfrm>
          <a:prstGeom prst="ellipse">
            <a:avLst/>
          </a:prstGeom>
          <a:solidFill>
            <a:srgbClr val="0FB5BA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420624"/>
            <a:ext cx="146304" cy="146304"/>
          </a:xfrm>
          <a:prstGeom prst="ellipse">
            <a:avLst/>
          </a:prstGeom>
          <a:solidFill>
            <a:srgbClr val="0FB5BA">
              <a:alpha val="40000"/>
            </a:srgbClr>
          </a:solidFill>
          <a:ln w="12700">
            <a:solidFill>
              <a:srgbClr val="0FB5B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13232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0FB5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DEMONSTRATION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13232" y="658368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Six-Step Demo Walk-Through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713232" y="1828800"/>
            <a:ext cx="3520440" cy="1783080"/>
          </a:xfrm>
          <a:prstGeom prst="roundRect">
            <a:avLst>
              <a:gd name="adj" fmla="val 5128"/>
            </a:avLst>
          </a:prstGeom>
          <a:solidFill>
            <a:srgbClr val="172033"/>
          </a:solidFill>
          <a:ln w="12700">
            <a:solidFill>
              <a:srgbClr val="22304D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96112" y="20116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B5B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3456432" y="2057400"/>
            <a:ext cx="548640" cy="548640"/>
          </a:xfrm>
          <a:prstGeom prst="roundRect">
            <a:avLst>
              <a:gd name="adj" fmla="val 15000"/>
            </a:avLst>
          </a:prstGeom>
          <a:solidFill>
            <a:srgbClr val="1E2A42"/>
          </a:solidFill>
          <a:ln w="12700">
            <a:solidFill>
              <a:srgbClr val="0FB5BA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75304" y="2176272"/>
            <a:ext cx="310896" cy="31089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914400" y="2697480"/>
            <a:ext cx="3118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Reset target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914400" y="3063240"/>
            <a:ext cx="31181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FCB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Reboot Metasploitable2 — every port open again.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526280" y="1828800"/>
            <a:ext cx="3520440" cy="1783080"/>
          </a:xfrm>
          <a:prstGeom prst="roundRect">
            <a:avLst>
              <a:gd name="adj" fmla="val 5128"/>
            </a:avLst>
          </a:prstGeom>
          <a:solidFill>
            <a:srgbClr val="172033"/>
          </a:solidFill>
          <a:ln w="12700">
            <a:solidFill>
              <a:srgbClr val="22304D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4709160" y="20116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B5B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000" dirty="0"/>
          </a:p>
        </p:txBody>
      </p:sp>
      <p:sp>
        <p:nvSpPr>
          <p:cNvPr id="14" name="Shape 11"/>
          <p:cNvSpPr/>
          <p:nvPr/>
        </p:nvSpPr>
        <p:spPr>
          <a:xfrm>
            <a:off x="7269480" y="2057400"/>
            <a:ext cx="548640" cy="548640"/>
          </a:xfrm>
          <a:prstGeom prst="roundRect">
            <a:avLst>
              <a:gd name="adj" fmla="val 15000"/>
            </a:avLst>
          </a:prstGeom>
          <a:solidFill>
            <a:srgbClr val="1E2A42"/>
          </a:solidFill>
          <a:ln w="12700">
            <a:solidFill>
              <a:srgbClr val="0FB5BA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88352" y="2176272"/>
            <a:ext cx="310896" cy="310896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727448" y="2697480"/>
            <a:ext cx="3118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Show it's open</a:t>
            </a:r>
            <a:endParaRPr lang="en-US" sz="1450" dirty="0"/>
          </a:p>
        </p:txBody>
      </p:sp>
      <p:sp>
        <p:nvSpPr>
          <p:cNvPr id="17" name="Text 13"/>
          <p:cNvSpPr/>
          <p:nvPr/>
        </p:nvSpPr>
        <p:spPr>
          <a:xfrm>
            <a:off x="4727448" y="3063240"/>
            <a:ext cx="31181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FCB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Test-NetConnection 6667 → True.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8339328" y="1828800"/>
            <a:ext cx="3520440" cy="1783080"/>
          </a:xfrm>
          <a:prstGeom prst="roundRect">
            <a:avLst>
              <a:gd name="adj" fmla="val 5128"/>
            </a:avLst>
          </a:prstGeom>
          <a:solidFill>
            <a:srgbClr val="172033"/>
          </a:solidFill>
          <a:ln w="12700">
            <a:solidFill>
              <a:srgbClr val="22304D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9" name="Text 15"/>
          <p:cNvSpPr/>
          <p:nvPr/>
        </p:nvSpPr>
        <p:spPr>
          <a:xfrm>
            <a:off x="8522208" y="20116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B5B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000" dirty="0"/>
          </a:p>
        </p:txBody>
      </p:sp>
      <p:sp>
        <p:nvSpPr>
          <p:cNvPr id="20" name="Shape 16"/>
          <p:cNvSpPr/>
          <p:nvPr/>
        </p:nvSpPr>
        <p:spPr>
          <a:xfrm>
            <a:off x="11082528" y="2057400"/>
            <a:ext cx="548640" cy="548640"/>
          </a:xfrm>
          <a:prstGeom prst="roundRect">
            <a:avLst>
              <a:gd name="adj" fmla="val 15000"/>
            </a:avLst>
          </a:prstGeom>
          <a:solidFill>
            <a:srgbClr val="1E2A42"/>
          </a:solidFill>
          <a:ln w="12700">
            <a:solidFill>
              <a:srgbClr val="0FB5BA"/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176272"/>
            <a:ext cx="310896" cy="310896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8540496" y="2697480"/>
            <a:ext cx="3118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Engine pauses</a:t>
            </a:r>
            <a:endParaRPr lang="en-US" sz="1450" dirty="0"/>
          </a:p>
        </p:txBody>
      </p:sp>
      <p:sp>
        <p:nvSpPr>
          <p:cNvPr id="23" name="Text 18"/>
          <p:cNvSpPr/>
          <p:nvPr/>
        </p:nvSpPr>
        <p:spPr>
          <a:xfrm>
            <a:off x="8540496" y="3063240"/>
            <a:ext cx="31181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FCB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engine; it waits for approval = no auto-action.</a:t>
            </a:r>
            <a:endParaRPr lang="en-US" sz="1100" dirty="0"/>
          </a:p>
        </p:txBody>
      </p:sp>
      <p:sp>
        <p:nvSpPr>
          <p:cNvPr id="24" name="Shape 19"/>
          <p:cNvSpPr/>
          <p:nvPr/>
        </p:nvSpPr>
        <p:spPr>
          <a:xfrm>
            <a:off x="713232" y="3904488"/>
            <a:ext cx="3520440" cy="1783080"/>
          </a:xfrm>
          <a:prstGeom prst="roundRect">
            <a:avLst>
              <a:gd name="adj" fmla="val 5128"/>
            </a:avLst>
          </a:prstGeom>
          <a:solidFill>
            <a:srgbClr val="172033"/>
          </a:solidFill>
          <a:ln w="12700">
            <a:solidFill>
              <a:srgbClr val="22304D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25" name="Text 20"/>
          <p:cNvSpPr/>
          <p:nvPr/>
        </p:nvSpPr>
        <p:spPr>
          <a:xfrm>
            <a:off x="896112" y="408736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B5B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000" dirty="0"/>
          </a:p>
        </p:txBody>
      </p:sp>
      <p:sp>
        <p:nvSpPr>
          <p:cNvPr id="26" name="Shape 21"/>
          <p:cNvSpPr/>
          <p:nvPr/>
        </p:nvSpPr>
        <p:spPr>
          <a:xfrm>
            <a:off x="3456432" y="4133088"/>
            <a:ext cx="548640" cy="548640"/>
          </a:xfrm>
          <a:prstGeom prst="roundRect">
            <a:avLst>
              <a:gd name="adj" fmla="val 15000"/>
            </a:avLst>
          </a:prstGeom>
          <a:solidFill>
            <a:srgbClr val="1E2A42"/>
          </a:solidFill>
          <a:ln w="12700">
            <a:solidFill>
              <a:srgbClr val="0FB5BA"/>
            </a:solidFill>
            <a:prstDash val="solid"/>
          </a:ln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75304" y="4251960"/>
            <a:ext cx="310896" cy="310896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914400" y="4773168"/>
            <a:ext cx="3118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Approve live</a:t>
            </a:r>
            <a:endParaRPr lang="en-US" sz="1450" dirty="0"/>
          </a:p>
        </p:txBody>
      </p:sp>
      <p:sp>
        <p:nvSpPr>
          <p:cNvPr id="29" name="Text 23"/>
          <p:cNvSpPr/>
          <p:nvPr/>
        </p:nvSpPr>
        <p:spPr>
          <a:xfrm>
            <a:off x="914400" y="5138928"/>
            <a:ext cx="31181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FCB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 A; SSH runs the fix in ~2 seconds.</a:t>
            </a:r>
            <a:endParaRPr lang="en-US" sz="1100" dirty="0"/>
          </a:p>
        </p:txBody>
      </p:sp>
      <p:sp>
        <p:nvSpPr>
          <p:cNvPr id="30" name="Shape 24"/>
          <p:cNvSpPr/>
          <p:nvPr/>
        </p:nvSpPr>
        <p:spPr>
          <a:xfrm>
            <a:off x="4526280" y="3904488"/>
            <a:ext cx="3520440" cy="1783080"/>
          </a:xfrm>
          <a:prstGeom prst="roundRect">
            <a:avLst>
              <a:gd name="adj" fmla="val 5128"/>
            </a:avLst>
          </a:prstGeom>
          <a:solidFill>
            <a:srgbClr val="172033"/>
          </a:solidFill>
          <a:ln w="12700">
            <a:solidFill>
              <a:srgbClr val="22304D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31" name="Text 25"/>
          <p:cNvSpPr/>
          <p:nvPr/>
        </p:nvSpPr>
        <p:spPr>
          <a:xfrm>
            <a:off x="4709160" y="408736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B5B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3000" dirty="0"/>
          </a:p>
        </p:txBody>
      </p:sp>
      <p:sp>
        <p:nvSpPr>
          <p:cNvPr id="32" name="Shape 26"/>
          <p:cNvSpPr/>
          <p:nvPr/>
        </p:nvSpPr>
        <p:spPr>
          <a:xfrm>
            <a:off x="7269480" y="4133088"/>
            <a:ext cx="548640" cy="548640"/>
          </a:xfrm>
          <a:prstGeom prst="roundRect">
            <a:avLst>
              <a:gd name="adj" fmla="val 15000"/>
            </a:avLst>
          </a:prstGeom>
          <a:solidFill>
            <a:srgbClr val="1E2A42"/>
          </a:solidFill>
          <a:ln w="12700">
            <a:solidFill>
              <a:srgbClr val="0FB5BA"/>
            </a:solidFill>
            <a:prstDash val="solid"/>
          </a:ln>
        </p:spPr>
      </p:sp>
      <p:pic>
        <p:nvPicPr>
          <p:cNvPr id="3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88352" y="4251960"/>
            <a:ext cx="310896" cy="310896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4727448" y="4773168"/>
            <a:ext cx="3118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Show it's closed</a:t>
            </a:r>
            <a:endParaRPr lang="en-US" sz="1450" dirty="0"/>
          </a:p>
        </p:txBody>
      </p:sp>
      <p:sp>
        <p:nvSpPr>
          <p:cNvPr id="35" name="Text 28"/>
          <p:cNvSpPr/>
          <p:nvPr/>
        </p:nvSpPr>
        <p:spPr>
          <a:xfrm>
            <a:off x="4727448" y="5138928"/>
            <a:ext cx="31181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FCB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Re-test 6667 → False; row logged in Supabase.</a:t>
            </a:r>
            <a:endParaRPr lang="en-US" sz="1100" dirty="0"/>
          </a:p>
        </p:txBody>
      </p:sp>
      <p:sp>
        <p:nvSpPr>
          <p:cNvPr id="36" name="Shape 29"/>
          <p:cNvSpPr/>
          <p:nvPr/>
        </p:nvSpPr>
        <p:spPr>
          <a:xfrm>
            <a:off x="8339328" y="3904488"/>
            <a:ext cx="3520440" cy="1783080"/>
          </a:xfrm>
          <a:prstGeom prst="roundRect">
            <a:avLst>
              <a:gd name="adj" fmla="val 5128"/>
            </a:avLst>
          </a:prstGeom>
          <a:solidFill>
            <a:srgbClr val="172033"/>
          </a:solidFill>
          <a:ln w="12700">
            <a:solidFill>
              <a:srgbClr val="22304D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37" name="Text 30"/>
          <p:cNvSpPr/>
          <p:nvPr/>
        </p:nvSpPr>
        <p:spPr>
          <a:xfrm>
            <a:off x="8522208" y="408736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B5B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3000" dirty="0"/>
          </a:p>
        </p:txBody>
      </p:sp>
      <p:sp>
        <p:nvSpPr>
          <p:cNvPr id="38" name="Shape 31"/>
          <p:cNvSpPr/>
          <p:nvPr/>
        </p:nvSpPr>
        <p:spPr>
          <a:xfrm>
            <a:off x="11082528" y="4133088"/>
            <a:ext cx="548640" cy="548640"/>
          </a:xfrm>
          <a:prstGeom prst="roundRect">
            <a:avLst>
              <a:gd name="adj" fmla="val 15000"/>
            </a:avLst>
          </a:prstGeom>
          <a:solidFill>
            <a:srgbClr val="1E2A42"/>
          </a:solidFill>
          <a:ln w="12700">
            <a:solidFill>
              <a:srgbClr val="0FB5BA"/>
            </a:solidFill>
            <a:prstDash val="solid"/>
          </a:ln>
        </p:spPr>
      </p:sp>
      <p:pic>
        <p:nvPicPr>
          <p:cNvPr id="3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201400" y="4251960"/>
            <a:ext cx="310896" cy="310896"/>
          </a:xfrm>
          <a:prstGeom prst="rect">
            <a:avLst/>
          </a:prstGeom>
        </p:spPr>
      </p:pic>
      <p:sp>
        <p:nvSpPr>
          <p:cNvPr id="40" name="Text 32"/>
          <p:cNvSpPr/>
          <p:nvPr/>
        </p:nvSpPr>
        <p:spPr>
          <a:xfrm>
            <a:off x="8540496" y="4773168"/>
            <a:ext cx="3118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 &amp; docs</a:t>
            </a:r>
            <a:endParaRPr lang="en-US" sz="1450" dirty="0"/>
          </a:p>
        </p:txBody>
      </p:sp>
      <p:sp>
        <p:nvSpPr>
          <p:cNvPr id="41" name="Text 33"/>
          <p:cNvSpPr/>
          <p:nvPr/>
        </p:nvSpPr>
        <p:spPr>
          <a:xfrm>
            <a:off x="8540496" y="5138928"/>
            <a:ext cx="31181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FCB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commits, 9 deliverables, no secrets.</a:t>
            </a:r>
            <a:endParaRPr lang="en-US" sz="1100" dirty="0"/>
          </a:p>
        </p:txBody>
      </p:sp>
      <p:sp>
        <p:nvSpPr>
          <p:cNvPr id="42" name="Text 34"/>
          <p:cNvSpPr/>
          <p:nvPr/>
        </p:nvSpPr>
        <p:spPr>
          <a:xfrm>
            <a:off x="457200" y="647395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69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AutoRemediate AI · DEPI Team 3</a:t>
            </a:r>
            <a:endParaRPr lang="en-US" sz="900" dirty="0"/>
          </a:p>
        </p:txBody>
      </p:sp>
      <p:sp>
        <p:nvSpPr>
          <p:cNvPr id="43" name="Text 35"/>
          <p:cNvSpPr/>
          <p:nvPr/>
        </p:nvSpPr>
        <p:spPr>
          <a:xfrm>
            <a:off x="11183112" y="647395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69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20624"/>
            <a:ext cx="146304" cy="146304"/>
          </a:xfrm>
          <a:prstGeom prst="ellipse">
            <a:avLst/>
          </a:prstGeom>
          <a:solidFill>
            <a:srgbClr val="0FB5BA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420624"/>
            <a:ext cx="146304" cy="146304"/>
          </a:xfrm>
          <a:prstGeom prst="ellipse">
            <a:avLst/>
          </a:prstGeom>
          <a:solidFill>
            <a:srgbClr val="0FB5BA">
              <a:alpha val="40000"/>
            </a:srgbClr>
          </a:solidFill>
          <a:ln w="12700">
            <a:solidFill>
              <a:srgbClr val="0FB5B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13232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0FB5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TEAM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13232" y="658368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DEPI Team 3 — Roles &amp; Ownership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713232" y="1874520"/>
            <a:ext cx="3520440" cy="1783080"/>
          </a:xfrm>
          <a:prstGeom prst="roundRect">
            <a:avLst>
              <a:gd name="adj" fmla="val 5128"/>
            </a:avLst>
          </a:prstGeom>
          <a:solidFill>
            <a:srgbClr val="1E2A42"/>
          </a:solidFill>
          <a:ln w="12700">
            <a:solidFill>
              <a:srgbClr val="22304D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87552" y="2331720"/>
            <a:ext cx="868680" cy="868680"/>
          </a:xfrm>
          <a:prstGeom prst="ellipse">
            <a:avLst/>
          </a:prstGeom>
          <a:solidFill>
            <a:srgbClr val="111726"/>
          </a:solidFill>
          <a:ln w="19050">
            <a:solidFill>
              <a:srgbClr val="FBBF24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16152" y="2560320"/>
            <a:ext cx="411480" cy="4114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993392" y="237744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Marc Wael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1993392" y="2862072"/>
            <a:ext cx="2103120" cy="329184"/>
          </a:xfrm>
          <a:prstGeom prst="roundRect">
            <a:avLst>
              <a:gd name="adj" fmla="val 50000"/>
            </a:avLst>
          </a:prstGeom>
          <a:solidFill>
            <a:srgbClr val="111726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993392" y="2862072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· Engineering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526280" y="1874520"/>
            <a:ext cx="3520440" cy="1783080"/>
          </a:xfrm>
          <a:prstGeom prst="roundRect">
            <a:avLst>
              <a:gd name="adj" fmla="val 5128"/>
            </a:avLst>
          </a:prstGeom>
          <a:solidFill>
            <a:srgbClr val="172033"/>
          </a:solidFill>
          <a:ln w="12700">
            <a:solidFill>
              <a:srgbClr val="22304D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800600" y="2331720"/>
            <a:ext cx="868680" cy="868680"/>
          </a:xfrm>
          <a:prstGeom prst="ellipse">
            <a:avLst/>
          </a:prstGeom>
          <a:solidFill>
            <a:srgbClr val="111726"/>
          </a:solidFill>
          <a:ln w="19050">
            <a:solidFill>
              <a:srgbClr val="0FB5BA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2560320"/>
            <a:ext cx="411480" cy="41148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806440" y="237744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Mohey Elden Mostafa</a:t>
            </a:r>
            <a:endParaRPr lang="en-US" sz="1500" dirty="0"/>
          </a:p>
        </p:txBody>
      </p:sp>
      <p:sp>
        <p:nvSpPr>
          <p:cNvPr id="16" name="Shape 12"/>
          <p:cNvSpPr/>
          <p:nvPr/>
        </p:nvSpPr>
        <p:spPr>
          <a:xfrm>
            <a:off x="5806440" y="2862072"/>
            <a:ext cx="1645920" cy="329184"/>
          </a:xfrm>
          <a:prstGeom prst="roundRect">
            <a:avLst>
              <a:gd name="adj" fmla="val 50000"/>
            </a:avLst>
          </a:prstGeom>
          <a:solidFill>
            <a:srgbClr val="111726"/>
          </a:solidFill>
          <a:ln w="12700">
            <a:solidFill>
              <a:srgbClr val="0FB5BA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5806440" y="2862072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B5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8339328" y="1874520"/>
            <a:ext cx="3520440" cy="1783080"/>
          </a:xfrm>
          <a:prstGeom prst="roundRect">
            <a:avLst>
              <a:gd name="adj" fmla="val 5128"/>
            </a:avLst>
          </a:prstGeom>
          <a:solidFill>
            <a:srgbClr val="172033"/>
          </a:solidFill>
          <a:ln w="12700">
            <a:solidFill>
              <a:srgbClr val="22304D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8613648" y="2331720"/>
            <a:ext cx="868680" cy="868680"/>
          </a:xfrm>
          <a:prstGeom prst="ellipse">
            <a:avLst/>
          </a:prstGeom>
          <a:solidFill>
            <a:srgbClr val="111726"/>
          </a:solidFill>
          <a:ln w="19050">
            <a:solidFill>
              <a:srgbClr val="0FB5BA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42248" y="2560320"/>
            <a:ext cx="411480" cy="41148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9619488" y="237744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Jerome Arsany</a:t>
            </a:r>
            <a:endParaRPr lang="en-US" sz="1500" dirty="0"/>
          </a:p>
        </p:txBody>
      </p:sp>
      <p:sp>
        <p:nvSpPr>
          <p:cNvPr id="22" name="Shape 17"/>
          <p:cNvSpPr/>
          <p:nvPr/>
        </p:nvSpPr>
        <p:spPr>
          <a:xfrm>
            <a:off x="9619488" y="2862072"/>
            <a:ext cx="1645920" cy="329184"/>
          </a:xfrm>
          <a:prstGeom prst="roundRect">
            <a:avLst>
              <a:gd name="adj" fmla="val 50000"/>
            </a:avLst>
          </a:prstGeom>
          <a:solidFill>
            <a:srgbClr val="111726"/>
          </a:solidFill>
          <a:ln w="12700">
            <a:solidFill>
              <a:srgbClr val="0FB5BA"/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9619488" y="2862072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B5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24" name="Shape 19"/>
          <p:cNvSpPr/>
          <p:nvPr/>
        </p:nvSpPr>
        <p:spPr>
          <a:xfrm>
            <a:off x="713232" y="3950208"/>
            <a:ext cx="3520440" cy="1783080"/>
          </a:xfrm>
          <a:prstGeom prst="roundRect">
            <a:avLst>
              <a:gd name="adj" fmla="val 5128"/>
            </a:avLst>
          </a:prstGeom>
          <a:solidFill>
            <a:srgbClr val="172033"/>
          </a:solidFill>
          <a:ln w="12700">
            <a:solidFill>
              <a:srgbClr val="22304D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987552" y="4407408"/>
            <a:ext cx="868680" cy="868680"/>
          </a:xfrm>
          <a:prstGeom prst="ellipse">
            <a:avLst/>
          </a:prstGeom>
          <a:solidFill>
            <a:srgbClr val="111726"/>
          </a:solidFill>
          <a:ln w="19050">
            <a:solidFill>
              <a:srgbClr val="0FB5BA"/>
            </a:solidFill>
            <a:prstDash val="solid"/>
          </a:ln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6152" y="4636008"/>
            <a:ext cx="411480" cy="41148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1993392" y="4453128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Noureen Elsayed</a:t>
            </a:r>
            <a:endParaRPr lang="en-US" sz="1500" dirty="0"/>
          </a:p>
        </p:txBody>
      </p:sp>
      <p:sp>
        <p:nvSpPr>
          <p:cNvPr id="28" name="Shape 22"/>
          <p:cNvSpPr/>
          <p:nvPr/>
        </p:nvSpPr>
        <p:spPr>
          <a:xfrm>
            <a:off x="1993392" y="4937760"/>
            <a:ext cx="1645920" cy="329184"/>
          </a:xfrm>
          <a:prstGeom prst="roundRect">
            <a:avLst>
              <a:gd name="adj" fmla="val 50000"/>
            </a:avLst>
          </a:prstGeom>
          <a:solidFill>
            <a:srgbClr val="111726"/>
          </a:solidFill>
          <a:ln w="12700">
            <a:solidFill>
              <a:srgbClr val="0FB5BA"/>
            </a:solidFill>
            <a:prstDash val="solid"/>
          </a:ln>
        </p:spPr>
      </p:sp>
      <p:sp>
        <p:nvSpPr>
          <p:cNvPr id="29" name="Text 23"/>
          <p:cNvSpPr/>
          <p:nvPr/>
        </p:nvSpPr>
        <p:spPr>
          <a:xfrm>
            <a:off x="1993392" y="4937760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B5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30" name="Shape 24"/>
          <p:cNvSpPr/>
          <p:nvPr/>
        </p:nvSpPr>
        <p:spPr>
          <a:xfrm>
            <a:off x="4526280" y="3950208"/>
            <a:ext cx="3520440" cy="1783080"/>
          </a:xfrm>
          <a:prstGeom prst="roundRect">
            <a:avLst>
              <a:gd name="adj" fmla="val 5128"/>
            </a:avLst>
          </a:prstGeom>
          <a:solidFill>
            <a:srgbClr val="172033"/>
          </a:solidFill>
          <a:ln w="12700">
            <a:solidFill>
              <a:srgbClr val="22304D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31" name="Shape 25"/>
          <p:cNvSpPr/>
          <p:nvPr/>
        </p:nvSpPr>
        <p:spPr>
          <a:xfrm>
            <a:off x="4800600" y="4407408"/>
            <a:ext cx="868680" cy="868680"/>
          </a:xfrm>
          <a:prstGeom prst="ellipse">
            <a:avLst/>
          </a:prstGeom>
          <a:solidFill>
            <a:srgbClr val="111726"/>
          </a:solidFill>
          <a:ln w="19050">
            <a:solidFill>
              <a:srgbClr val="0FB5BA"/>
            </a:solidFill>
            <a:prstDash val="solid"/>
          </a:ln>
        </p:spPr>
      </p:sp>
      <p:pic>
        <p:nvPicPr>
          <p:cNvPr id="3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0" y="4636008"/>
            <a:ext cx="411480" cy="411480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5806440" y="4453128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Hassan Ibrahim</a:t>
            </a:r>
            <a:endParaRPr lang="en-US" sz="1500" dirty="0"/>
          </a:p>
        </p:txBody>
      </p:sp>
      <p:sp>
        <p:nvSpPr>
          <p:cNvPr id="34" name="Shape 27"/>
          <p:cNvSpPr/>
          <p:nvPr/>
        </p:nvSpPr>
        <p:spPr>
          <a:xfrm>
            <a:off x="5806440" y="4937760"/>
            <a:ext cx="1645920" cy="329184"/>
          </a:xfrm>
          <a:prstGeom prst="roundRect">
            <a:avLst>
              <a:gd name="adj" fmla="val 50000"/>
            </a:avLst>
          </a:prstGeom>
          <a:solidFill>
            <a:srgbClr val="111726"/>
          </a:solidFill>
          <a:ln w="12700">
            <a:solidFill>
              <a:srgbClr val="0FB5BA"/>
            </a:solidFill>
            <a:prstDash val="solid"/>
          </a:ln>
        </p:spPr>
      </p:sp>
      <p:sp>
        <p:nvSpPr>
          <p:cNvPr id="35" name="Text 28"/>
          <p:cNvSpPr/>
          <p:nvPr/>
        </p:nvSpPr>
        <p:spPr>
          <a:xfrm>
            <a:off x="5806440" y="4937760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B5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36" name="Shape 29"/>
          <p:cNvSpPr/>
          <p:nvPr/>
        </p:nvSpPr>
        <p:spPr>
          <a:xfrm>
            <a:off x="8339328" y="3950208"/>
            <a:ext cx="3520440" cy="1783080"/>
          </a:xfrm>
          <a:prstGeom prst="roundRect">
            <a:avLst>
              <a:gd name="adj" fmla="val 5128"/>
            </a:avLst>
          </a:prstGeom>
          <a:solidFill>
            <a:srgbClr val="172033"/>
          </a:solidFill>
          <a:ln w="12700">
            <a:solidFill>
              <a:srgbClr val="22304D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37" name="Shape 30"/>
          <p:cNvSpPr/>
          <p:nvPr/>
        </p:nvSpPr>
        <p:spPr>
          <a:xfrm>
            <a:off x="8613648" y="4407408"/>
            <a:ext cx="868680" cy="868680"/>
          </a:xfrm>
          <a:prstGeom prst="ellipse">
            <a:avLst/>
          </a:prstGeom>
          <a:solidFill>
            <a:srgbClr val="111726"/>
          </a:solidFill>
          <a:ln w="19050">
            <a:solidFill>
              <a:srgbClr val="0FB5BA"/>
            </a:solidFill>
            <a:prstDash val="solid"/>
          </a:ln>
        </p:spPr>
      </p:sp>
      <p:pic>
        <p:nvPicPr>
          <p:cNvPr id="3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42248" y="4636008"/>
            <a:ext cx="411480" cy="411480"/>
          </a:xfrm>
          <a:prstGeom prst="rect">
            <a:avLst/>
          </a:prstGeom>
        </p:spPr>
      </p:pic>
      <p:sp>
        <p:nvSpPr>
          <p:cNvPr id="39" name="Text 31"/>
          <p:cNvSpPr/>
          <p:nvPr/>
        </p:nvSpPr>
        <p:spPr>
          <a:xfrm>
            <a:off x="9619488" y="4453128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Philopater Helmy</a:t>
            </a:r>
            <a:endParaRPr lang="en-US" sz="1500" dirty="0"/>
          </a:p>
        </p:txBody>
      </p:sp>
      <p:sp>
        <p:nvSpPr>
          <p:cNvPr id="40" name="Shape 32"/>
          <p:cNvSpPr/>
          <p:nvPr/>
        </p:nvSpPr>
        <p:spPr>
          <a:xfrm>
            <a:off x="9619488" y="4937760"/>
            <a:ext cx="1645920" cy="329184"/>
          </a:xfrm>
          <a:prstGeom prst="roundRect">
            <a:avLst>
              <a:gd name="adj" fmla="val 50000"/>
            </a:avLst>
          </a:prstGeom>
          <a:solidFill>
            <a:srgbClr val="111726"/>
          </a:solidFill>
          <a:ln w="12700">
            <a:solidFill>
              <a:srgbClr val="0FB5BA"/>
            </a:solidFill>
            <a:prstDash val="solid"/>
          </a:ln>
        </p:spPr>
      </p:sp>
      <p:sp>
        <p:nvSpPr>
          <p:cNvPr id="41" name="Text 33"/>
          <p:cNvSpPr/>
          <p:nvPr/>
        </p:nvSpPr>
        <p:spPr>
          <a:xfrm>
            <a:off x="9619488" y="4937760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B5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42" name="Text 34"/>
          <p:cNvSpPr/>
          <p:nvPr/>
        </p:nvSpPr>
        <p:spPr>
          <a:xfrm>
            <a:off x="713232" y="580644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BFCB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Evaluator: Eng. Ahmed Attia  ·  Digital Egypt Pioneers Initiative</a:t>
            </a:r>
            <a:endParaRPr lang="en-US" sz="1250" dirty="0"/>
          </a:p>
        </p:txBody>
      </p:sp>
      <p:sp>
        <p:nvSpPr>
          <p:cNvPr id="43" name="Text 35"/>
          <p:cNvSpPr/>
          <p:nvPr/>
        </p:nvSpPr>
        <p:spPr>
          <a:xfrm>
            <a:off x="457200" y="647395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69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AutoRemediate AI · DEPI Team 3</a:t>
            </a:r>
            <a:endParaRPr lang="en-US" sz="900" dirty="0"/>
          </a:p>
        </p:txBody>
      </p:sp>
      <p:sp>
        <p:nvSpPr>
          <p:cNvPr id="44" name="Text 36"/>
          <p:cNvSpPr/>
          <p:nvPr/>
        </p:nvSpPr>
        <p:spPr>
          <a:xfrm>
            <a:off x="11183112" y="647395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69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0" y="-2286000"/>
            <a:ext cx="7315200" cy="7315200"/>
          </a:xfrm>
          <a:prstGeom prst="ellipse">
            <a:avLst/>
          </a:prstGeom>
          <a:solidFill>
            <a:srgbClr val="0FB5BA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326880" y="2331720"/>
            <a:ext cx="1920240" cy="1920240"/>
          </a:xfrm>
          <a:prstGeom prst="roundRect">
            <a:avLst>
              <a:gd name="adj" fmla="val 9524"/>
            </a:avLst>
          </a:prstGeom>
          <a:solidFill>
            <a:srgbClr val="172033"/>
          </a:solidFill>
          <a:ln w="19050">
            <a:solidFill>
              <a:srgbClr val="0FB5B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84080" y="2788920"/>
            <a:ext cx="1005840" cy="10058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960" y="18288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FB5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777240" y="2240280"/>
            <a:ext cx="8046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Real, Human-Governed</a:t>
            </a:r>
            <a:endParaRPr lang="en-US" sz="3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Autonomous Defense System</a:t>
            </a:r>
            <a:endParaRPr lang="en-US" sz="3800" dirty="0"/>
          </a:p>
        </p:txBody>
      </p:sp>
      <p:sp>
        <p:nvSpPr>
          <p:cNvPr id="7" name="Text 4"/>
          <p:cNvSpPr/>
          <p:nvPr/>
        </p:nvSpPr>
        <p:spPr>
          <a:xfrm>
            <a:off x="822960" y="38862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FCB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Prioritized · Human-approved · Verified in real time · Fully documented on GitHub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822960" y="4663440"/>
            <a:ext cx="7315200" cy="0"/>
          </a:xfrm>
          <a:prstGeom prst="line">
            <a:avLst/>
          </a:prstGeom>
          <a:noFill/>
          <a:ln w="12700">
            <a:solidFill>
              <a:srgbClr val="22304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22960" y="48463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AutoRemediate AI</a:t>
            </a:r>
            <a:pPr indent="0" marL="0">
              <a:buNone/>
            </a:pPr>
            <a:r>
              <a:rPr lang="en-US" sz="1350" dirty="0">
                <a:solidFill>
                  <a:srgbClr val="BFCB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Project 7   ·   DEPI Team 3   ·   Evaluator: Eng. Ahmed Attia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822960" y="52578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B5B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github.com/nourinsayed55-ui/autoremediate-ai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822960" y="57607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69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Live Discussion Welcome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AutoRemediate AI — Capstone Presentation</dc:title>
  <dc:subject>PptxGenJS Presentation</dc:subject>
  <dc:creator>DEPI Team 3</dc:creator>
  <cp:lastModifiedBy>DEPI Team 3</cp:lastModifiedBy>
  <cp:revision>1</cp:revision>
  <dcterms:created xsi:type="dcterms:W3CDTF">2026-06-30T13:16:39Z</dcterms:created>
  <dcterms:modified xsi:type="dcterms:W3CDTF">2026-06-30T13:16:39Z</dcterms:modified>
</cp:coreProperties>
</file>